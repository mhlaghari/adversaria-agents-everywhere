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ab650e79954738" /><Relationship Type="http://schemas.openxmlformats.org/officeDocument/2006/relationships/extended-properties" Target="/docProps/app.xml" Id="R80b63355b976404f" /><Relationship Type="http://schemas.openxmlformats.org/officeDocument/2006/relationships/officeDocument" Target="/ppt/presentation.xml" Id="Rf8c475ca91de4bfc" /></Relationships>
</file>

<file path=ppt/presentation.xml><?xml version="1.0" encoding="utf-8"?>
<p:presentation xmlns:p="http://schemas.openxmlformats.org/presentationml/2006/main">
  <p:sldMasterIdLst>
    <p:sldMasterId xmlns:r="http://schemas.openxmlformats.org/officeDocument/2006/relationships" id="2147483648" r:id="R49f90b15aca742c7"/>
  </p:sldMasterIdLst>
  <p:notesMasterIdLst>
    <p:notesMasterId xmlns:r="http://schemas.openxmlformats.org/officeDocument/2006/relationships" r:id="R58fa6166c5e6402e"/>
  </p:notesMasterIdLst>
  <p:sldIdLst>
    <p:sldId xmlns:r="http://schemas.openxmlformats.org/officeDocument/2006/relationships" id="256" r:id="Rd3d90bdccced4d58"/>
    <p:sldId xmlns:r="http://schemas.openxmlformats.org/officeDocument/2006/relationships" id="257" r:id="Rfa5bfc38e5404377"/>
    <p:sldId xmlns:r="http://schemas.openxmlformats.org/officeDocument/2006/relationships" id="258" r:id="R8f143bad3f884b9a"/>
    <p:sldId xmlns:r="http://schemas.openxmlformats.org/officeDocument/2006/relationships" id="259" r:id="R9ce0d61dd52a4aef"/>
    <p:sldId xmlns:r="http://schemas.openxmlformats.org/officeDocument/2006/relationships" id="260" r:id="Rd1ee95a92080425d"/>
    <p:sldId xmlns:r="http://schemas.openxmlformats.org/officeDocument/2006/relationships" id="261" r:id="R504ccf046a7b4e8a"/>
    <p:sldId xmlns:r="http://schemas.openxmlformats.org/officeDocument/2006/relationships" id="262" r:id="R687c4312357a4770"/>
    <p:sldId xmlns:r="http://schemas.openxmlformats.org/officeDocument/2006/relationships" id="263" r:id="Ra145c9d19bfd435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257bcb45ccc4b75" /><Relationship Type="http://schemas.openxmlformats.org/officeDocument/2006/relationships/slideMaster" Target="/ppt/slideMasters/slideMaster1.xml" Id="R49f90b15aca742c7" /><Relationship Type="http://schemas.openxmlformats.org/officeDocument/2006/relationships/notesMaster" Target="/ppt/notesMasters/notesMaster1.xml" Id="R58fa6166c5e6402e" /><Relationship Type="http://schemas.openxmlformats.org/officeDocument/2006/relationships/presProps" Target="/ppt/presProps.xml" Id="Rce6151186b684f47" /><Relationship Type="http://schemas.openxmlformats.org/officeDocument/2006/relationships/tableStyles" Target="/ppt/tableStyles.xml" Id="R86fcc917a3104ac0" /><Relationship Type="http://schemas.openxmlformats.org/officeDocument/2006/relationships/slide" Target="/ppt/slides/slide1.xml" Id="Rd3d90bdccced4d58" /><Relationship Type="http://schemas.openxmlformats.org/officeDocument/2006/relationships/slide" Target="/ppt/slides/slide2.xml" Id="Rfa5bfc38e5404377" /><Relationship Type="http://schemas.openxmlformats.org/officeDocument/2006/relationships/slide" Target="/ppt/slides/slide3.xml" Id="R8f143bad3f884b9a" /><Relationship Type="http://schemas.openxmlformats.org/officeDocument/2006/relationships/slide" Target="/ppt/slides/slide4.xml" Id="R9ce0d61dd52a4aef" /><Relationship Type="http://schemas.openxmlformats.org/officeDocument/2006/relationships/slide" Target="/ppt/slides/slide5.xml" Id="Rd1ee95a92080425d" /><Relationship Type="http://schemas.openxmlformats.org/officeDocument/2006/relationships/slide" Target="/ppt/slides/slide6.xml" Id="R504ccf046a7b4e8a" /><Relationship Type="http://schemas.openxmlformats.org/officeDocument/2006/relationships/slide" Target="/ppt/slides/slide7.xml" Id="R687c4312357a4770" /><Relationship Type="http://schemas.openxmlformats.org/officeDocument/2006/relationships/slide" Target="/ppt/slides/slide8.xml" Id="Ra145c9d19bfd43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b87917400543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73757eb25449b1" /><Relationship Type="http://schemas.openxmlformats.org/officeDocument/2006/relationships/notesMaster" Target="/ppt/notesMasters/notesMaster1.xml" Id="Ra87420f581f94d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4f8d0473e44a7f" /><Relationship Type="http://schemas.openxmlformats.org/officeDocument/2006/relationships/notesMaster" Target="/ppt/notesMasters/notesMaster1.xml" Id="R27066ab289b94e6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d5874b4ec847e6" /><Relationship Type="http://schemas.openxmlformats.org/officeDocument/2006/relationships/notesMaster" Target="/ppt/notesMasters/notesMaster1.xml" Id="R13c1b20acca241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6f8393f603408a" /><Relationship Type="http://schemas.openxmlformats.org/officeDocument/2006/relationships/notesMaster" Target="/ppt/notesMasters/notesMaster1.xml" Id="R63f95e92ba8444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67dc450a4f1426d" /><Relationship Type="http://schemas.openxmlformats.org/officeDocument/2006/relationships/notesMaster" Target="/ppt/notesMasters/notesMaster1.xml" Id="R05fe765b3faf42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a21d8ebc944a9a" /><Relationship Type="http://schemas.openxmlformats.org/officeDocument/2006/relationships/notesMaster" Target="/ppt/notesMasters/notesMaster1.xml" Id="R0dce232cb0b944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7439725450ae4415" /><Relationship Type="http://schemas.openxmlformats.org/officeDocument/2006/relationships/notesMaster" Target="/ppt/notesMasters/notesMaster1.xml" Id="R1cc72d747ad7441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02d4a67d4594829" /><Relationship Type="http://schemas.openxmlformats.org/officeDocument/2006/relationships/notesMaster" Target="/ppt/notesMasters/notesMaster1.xml" Id="R23e7caff68db4f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am Hamza, a lead AI engineer. Adversaria is an ongoing project I am building at Laghari Labs. I built it because my meetings kept producing more work while my own projects waited. Today I extended the desktop Copilot and Spaces experience and built a terminal edition. Sources: Hamza’s brief, 12 September 2026; repository README.md, HACKATHON.md and CLI documentation. Design: LaghariLabs design/tokens.css, slides.jsx and system.jsx. Fonts: Silkscreen and JetBrains Mono, Google Fonts.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 a lead AI engineer, I attend many meetings. In my experience, an action item can take another hour or two. The work might be researching an approach or turning the discussion into a solution architecture. The meeting ends, but that work remains. The time estimate is my experience, not a claim about everyone or a measured time saving. Sources: Hamza’s brief, 12 September 2026; repository README.md, HACKATHON.md and CLI documentation. Design: LaghariLabs design/tokens.css, slides.jsx and system.jsx. Fonts: Silkscreen and JetBrains Mono, Google Fonts.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still have my own projects to build. When every meeting produces more follow-up, those projects get whatever time is left. That is the personal pain behind Adversaria. I wanted the context and commitments from a meeting to help me start the actual work. Sources: Hamza’s brief, 12 September 2026; repository README.md, HACKATHON.md and CLI documentation. Design: LaghariLabs design/tokens.css, slides.jsx and system.jsx. Fonts: Silkscreen and JetBrains Mono, Google Fonts.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Adversaria starts with a local desktop meeting workflow. It captures the meeting and keeps transcripts and notes locally. In local mode, the desktop can use on-device transcription and AI. It also supports optional external providers. Workspace web research and cloud agents require external services, so I do not describe those paths as completely local. The local notes workflow is the foundation. Sources: Hamza’s brief, 12 September 2026; repository README.md, HACKATHON.md and CLI documentation. Design: LaghariLabs design/tokens.css, slides.jsx and system.jsx. Fonts: Silkscreen and JetBrains Mono, Google Fonts.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a meeting, Copilot uses the discussion to suggest useful context and talking points. It also catches commitments and presents the follow-up for my review. That means I can stay in the conversation and still see what needs to happen afterward. Sources: Hamza’s brief, 12 September 2026; repository README.md, HACKATHON.md and CLI documentation. Design: LaghariLabs design/tokens.css, slides.jsx and system.jsx. Fonts: Silkscreen and JetBrains Mono, Google Fonts.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Spaces, called Workspaces in the app, connect meeting context to work. I can approve an action item, research options and create a solution architecture diagram inside the workspace. Then I review the artifact. The diagram and research are drafts for engineering judgment. Web research uses external services when enabled. Human review remains part of the workflow. Sources: Hamza’s brief, 12 September 2026; repository README.md, HACKATHON.md and CLI documentation. Design: LaghariLabs design/tokens.css, slides.jsx and system.jsx. Fonts: Silkscreen and JetBrains Mono, Google Fonts.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I built on the existing Copilot and Spaces foundation, including a compact companion and inline diagram preview. I also built Adversaria CLI: a terminal meeting copilot and work interface. It uses configured provider credentials. OpenRouter handles cloud speech and models, Exa handles web research, and OpenAI is an optional direct model and transcription provider. Codex task execution uses a separate Codex login, not a provider API key. This is a cloud BYOK edition with local storage, not an entirely offline CLI. Sources: Hamza’s brief, 12 September 2026; repository README.md, HACKATHON.md and CLI documentation. Design: LaghariLabs design/tokens.css, slides.jsx and system.jsx. Fonts: Silkscreen and JetBrains Mono, Google Fonts.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goal is simple: give me more room to do the engineering and personal projects I care about. Adversaria is an ongoing project, and today’s Copilot, Spaces and CLI work move it forward. In a demo, I would first show the local meeting context, then a Copilot commitment, then a research or architecture draft in a workspace. The CLI is another way to use the same idea from the terminal. Setup requires the relevant credentials for the selected cloud providers. Sources: Hamza’s brief, 12 September 2026; repository README.md, HACKATHON.md and CLI documentation. Design: LaghariLabs design/tokens.css, slides.jsx and system.jsx. Fonts: Silkscreen and JetBrains Mono, Google Fonts.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b9aad607e942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343ef7c9bb454c" /><Relationship Type="http://schemas.openxmlformats.org/officeDocument/2006/relationships/slideLayout" Target="/ppt/slideLayouts/slideLayout1.xml" Id="Rf3774dece19c4fe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3774dece19c4f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daf865fe0544d90" /><Relationship Type="http://schemas.openxmlformats.org/officeDocument/2006/relationships/notesSlide" Target="/ppt/notesSlides/notesSlide1.xml" Id="Re1fbc5d6225844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061273d2ead4000" /><Relationship Type="http://schemas.openxmlformats.org/officeDocument/2006/relationships/notesSlide" Target="/ppt/notesSlides/notesSlide2.xml" Id="R175fbfdec97a42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ea444b5ff234a21" /><Relationship Type="http://schemas.openxmlformats.org/officeDocument/2006/relationships/notesSlide" Target="/ppt/notesSlides/notesSlide3.xml" Id="Rfedc72967d90471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06061df822c400f" /><Relationship Type="http://schemas.openxmlformats.org/officeDocument/2006/relationships/notesSlide" Target="/ppt/notesSlides/notesSlide4.xml" Id="R9dcab0aebb3846f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df9a136b7294197" /><Relationship Type="http://schemas.openxmlformats.org/officeDocument/2006/relationships/notesSlide" Target="/ppt/notesSlides/notesSlide5.xml" Id="Rc47fb2465f3540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99e813044624bbe" /><Relationship Type="http://schemas.openxmlformats.org/officeDocument/2006/relationships/notesSlide" Target="/ppt/notesSlides/notesSlide6.xml" Id="Rf2d89cde5bda47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799446a3e79442e" /><Relationship Type="http://schemas.openxmlformats.org/officeDocument/2006/relationships/notesSlide" Target="/ppt/notesSlides/notesSlide7.xml" Id="R2ae75d86f97849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cfecb25bc664585" /><Relationship Type="http://schemas.openxmlformats.org/officeDocument/2006/relationships/notesSlide" Target="/ppt/notesSlides/notesSlide8.xml" Id="R457d81302a534c8d" /></Relationships>
</file>

<file path=ppt/slides/slide1.xml><?xml version="1.0" encoding="utf-8"?>
<p:sld xmlns:p="http://schemas.openxmlformats.org/presentationml/2006/main">
  <p:cSld>
    <p:bg>
      <p:bgPr>
        <a:solidFill xmlns:a="http://schemas.openxmlformats.org/drawingml/2006/main">
          <a:srgbClr val="F2EBDA"/>
        </a:solidFill>
      </p:bgPr>
    </p:bg>
    <p:spTree>
      <p:nvGrpSpPr>
        <p:cNvPr id="1" name=""/>
        <p:cNvGrpSpPr/>
        <p:nvPr/>
      </p:nvGrpSpPr>
      <p:grpSpPr>
        <a:xfrm xmlns:a="http://schemas.openxmlformats.org/drawingml/2006/main"/>
      </p:grpSpPr>
      <p:sp>
        <p:nvSpPr>
          <p:cNvPr id="14" name="Brand frame">
            <a:extLst xmlns:a="http://schemas.openxmlformats.org/drawingml/2006/main">
              <a:ext uri="{FF2B5EF4-FFF2-40B4-BE49-F238E27FC236}">
                <a16:creationId xmlns:a16="http://schemas.microsoft.com/office/drawing/2014/main" id="{2C7E25BF-8136-4D10-8D7E-7A5ECB75212F}"/>
              </a:ext>
            </a:extLst>
          </p:cNvPr>
          <p:cNvSpPr>
            <a:spLocks xmlns:a="http://schemas.openxmlformats.org/drawingml/2006/main" noGrp="1"/>
          </p:cNvSpPr>
          <p:nvPr/>
        </p:nvSpPr>
        <p:spPr>
          <a:xfrm xmlns:a="http://schemas.openxmlformats.org/drawingml/2006/main">
            <a:off x="19050" y="19050"/>
            <a:ext cx="15201900" cy="8534400"/>
          </a:xfrm>
          <a:prstGeom xmlns:a="http://schemas.openxmlformats.org/drawingml/2006/main" prst="rect">
            <a:avLst/>
          </a:prstGeom>
          <a:noFill xmlns:a="http://schemas.openxmlformats.org/drawingml/2006/main"/>
          <a:ln xmlns:a="http://schemas.openxmlformats.org/drawingml/2006/main" w="38100">
            <a:solidFill>
              <a:srgbClr val="0E0E12"/>
            </a:solidFill>
          </a:ln>
        </p:spPr>
      </p:sp>
      <p:sp>
        <p:nvSpPr>
          <p:cNvPr id="2" name="Editable 0-0">
            <a:extLst xmlns:a="http://schemas.openxmlformats.org/drawingml/2006/main">
              <a:ext uri="{FF2B5EF4-FFF2-40B4-BE49-F238E27FC236}">
                <a16:creationId xmlns:a16="http://schemas.microsoft.com/office/drawing/2014/main" id="{0006B927-ECF7-4855-B450-C2EB5478F6F4}"/>
              </a:ext>
            </a:extLst>
          </p:cNvPr>
          <p:cNvSpPr>
            <a:spLocks xmlns:a="http://schemas.openxmlformats.org/drawingml/2006/main" noGrp="1"/>
          </p:cNvSpPr>
          <p:nvPr/>
        </p:nvSpPr>
        <p:spPr>
          <a:xfrm xmlns:a="http://schemas.openxmlformats.org/drawingml/2006/main">
            <a:off x="571500" y="495300"/>
            <a:ext cx="1371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1">
                <a:solidFill>
                  <a:srgbClr val="0E0E12"/>
                </a:solidFill>
                <a:latin typeface="JetBrains Mono"/>
                <a:ea typeface="JetBrains Mono"/>
                <a:cs typeface="JetBrains Mono"/>
              </a:defRPr>
            </a:pPr>
            <a:r>
              <a:rPr sz="1800" b="1">
                <a:solidFill>
                  <a:srgbClr val="0E0E12"/>
                </a:solidFill>
                <a:latin typeface="JetBrains Mono"/>
                <a:ea typeface="JetBrains Mono"/>
                <a:cs typeface="JetBrains Mono"/>
              </a:rPr>
              <a:t>FIELD NOTES     ADVERSARIA</a:t>
            </a:r>
          </a:p>
        </p:txBody>
      </p:sp>
      <p:sp>
        <p:nvSpPr>
          <p:cNvPr id="3" name="Editable 0-1">
            <a:extLst xmlns:a="http://schemas.openxmlformats.org/drawingml/2006/main">
              <a:ext uri="{FF2B5EF4-FFF2-40B4-BE49-F238E27FC236}">
                <a16:creationId xmlns:a16="http://schemas.microsoft.com/office/drawing/2014/main" id="{E5F3E06B-61C3-47AF-B99B-394EEB29EC75}"/>
              </a:ext>
            </a:extLst>
          </p:cNvPr>
          <p:cNvSpPr>
            <a:spLocks xmlns:a="http://schemas.openxmlformats.org/drawingml/2006/main" noGrp="1"/>
          </p:cNvSpPr>
          <p:nvPr/>
        </p:nvSpPr>
        <p:spPr>
          <a:xfrm xmlns:a="http://schemas.openxmlformats.org/drawingml/2006/main">
            <a:off x="571500" y="1943100"/>
            <a:ext cx="13620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9300" b="0">
                <a:solidFill>
                  <a:srgbClr val="0E0E12"/>
                </a:solidFill>
                <a:latin typeface="Silkscreen"/>
                <a:ea typeface="Silkscreen"/>
                <a:cs typeface="Silkscreen"/>
              </a:defRPr>
            </a:pPr>
            <a:r>
              <a:rPr sz="9300" b="0">
                <a:solidFill>
                  <a:srgbClr val="0E0E12"/>
                </a:solidFill>
                <a:latin typeface="Silkscreen"/>
                <a:ea typeface="Silkscreen"/>
                <a:cs typeface="Silkscreen"/>
              </a:rPr>
              <a:t>Why I built</a:t>
            </a:r>
          </a:p>
        </p:txBody>
      </p:sp>
      <p:sp>
        <p:nvSpPr>
          <p:cNvPr id="4" name="Pixel offset shadow">
            <a:extLst xmlns:a="http://schemas.openxmlformats.org/drawingml/2006/main">
              <a:ext uri="{FF2B5EF4-FFF2-40B4-BE49-F238E27FC236}">
                <a16:creationId xmlns:a16="http://schemas.microsoft.com/office/drawing/2014/main" id="{23BA42C8-D931-4848-8544-72ECDB08C69A}"/>
              </a:ext>
            </a:extLst>
          </p:cNvPr>
          <p:cNvSpPr>
            <a:spLocks xmlns:a="http://schemas.openxmlformats.org/drawingml/2006/main" noGrp="1"/>
          </p:cNvSpPr>
          <p:nvPr/>
        </p:nvSpPr>
        <p:spPr>
          <a:xfrm xmlns:a="http://schemas.openxmlformats.org/drawingml/2006/main">
            <a:off x="666750" y="3457575"/>
            <a:ext cx="12382500" cy="1600200"/>
          </a:xfrm>
          <a:prstGeom xmlns:a="http://schemas.openxmlformats.org/drawingml/2006/main" prst="rect">
            <a:avLst/>
          </a:prstGeom>
          <a:solidFill xmlns:a="http://schemas.openxmlformats.org/drawingml/2006/main">
            <a:srgbClr val="0E0E12"/>
          </a:solidFill>
          <a:ln xmlns:a="http://schemas.openxmlformats.org/drawingml/2006/main" w="0">
            <a:noFill/>
          </a:ln>
        </p:spPr>
      </p:sp>
      <p:sp>
        <p:nvSpPr>
          <p:cNvPr id="5" name="Brand layout surface">
            <a:extLst xmlns:a="http://schemas.openxmlformats.org/drawingml/2006/main">
              <a:ext uri="{FF2B5EF4-FFF2-40B4-BE49-F238E27FC236}">
                <a16:creationId xmlns:a16="http://schemas.microsoft.com/office/drawing/2014/main" id="{163C69FF-7763-4C99-BF37-D9D117DB1EC1}"/>
              </a:ext>
            </a:extLst>
          </p:cNvPr>
          <p:cNvSpPr>
            <a:spLocks xmlns:a="http://schemas.openxmlformats.org/drawingml/2006/main" noGrp="1"/>
          </p:cNvSpPr>
          <p:nvPr/>
        </p:nvSpPr>
        <p:spPr>
          <a:xfrm xmlns:a="http://schemas.openxmlformats.org/drawingml/2006/main">
            <a:off x="571500" y="3362325"/>
            <a:ext cx="12382500" cy="1600200"/>
          </a:xfrm>
          <a:prstGeom xmlns:a="http://schemas.openxmlformats.org/drawingml/2006/main" prst="rect">
            <a:avLst/>
          </a:prstGeom>
          <a:solidFill xmlns:a="http://schemas.openxmlformats.org/drawingml/2006/main">
            <a:srgbClr val="FFD23F"/>
          </a:solidFill>
          <a:ln xmlns:a="http://schemas.openxmlformats.org/drawingml/2006/main" w="38100">
            <a:solidFill>
              <a:srgbClr val="0E0E12"/>
            </a:solidFill>
          </a:ln>
        </p:spPr>
      </p:sp>
      <p:sp>
        <p:nvSpPr>
          <p:cNvPr id="6" name="Editable 0-3">
            <a:extLst xmlns:a="http://schemas.openxmlformats.org/drawingml/2006/main">
              <a:ext uri="{FF2B5EF4-FFF2-40B4-BE49-F238E27FC236}">
                <a16:creationId xmlns:a16="http://schemas.microsoft.com/office/drawing/2014/main" id="{B2992B05-7EC4-487D-A1C2-ED4D45CCCC2F}"/>
              </a:ext>
            </a:extLst>
          </p:cNvPr>
          <p:cNvSpPr>
            <a:spLocks xmlns:a="http://schemas.openxmlformats.org/drawingml/2006/main" noGrp="1"/>
          </p:cNvSpPr>
          <p:nvPr/>
        </p:nvSpPr>
        <p:spPr>
          <a:xfrm xmlns:a="http://schemas.openxmlformats.org/drawingml/2006/main">
            <a:off x="800100" y="3362325"/>
            <a:ext cx="120967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0950" b="0">
                <a:solidFill>
                  <a:srgbClr val="0E0E12"/>
                </a:solidFill>
                <a:latin typeface="Silkscreen"/>
                <a:ea typeface="Silkscreen"/>
                <a:cs typeface="Silkscreen"/>
              </a:defRPr>
            </a:pPr>
            <a:r>
              <a:rPr sz="10950" b="0">
                <a:solidFill>
                  <a:srgbClr val="0E0E12"/>
                </a:solidFill>
                <a:latin typeface="Silkscreen"/>
                <a:ea typeface="Silkscreen"/>
                <a:cs typeface="Silkscreen"/>
              </a:rPr>
              <a:t>Adversaria</a:t>
            </a:r>
          </a:p>
        </p:txBody>
      </p:sp>
      <p:sp>
        <p:nvSpPr>
          <p:cNvPr id="7" name="Editable 0-4">
            <a:extLst xmlns:a="http://schemas.openxmlformats.org/drawingml/2006/main">
              <a:ext uri="{FF2B5EF4-FFF2-40B4-BE49-F238E27FC236}">
                <a16:creationId xmlns:a16="http://schemas.microsoft.com/office/drawing/2014/main" id="{521E9422-6AA1-46D6-88B0-EE5DADDC9101}"/>
              </a:ext>
            </a:extLst>
          </p:cNvPr>
          <p:cNvSpPr>
            <a:spLocks xmlns:a="http://schemas.openxmlformats.org/drawingml/2006/main" noGrp="1"/>
          </p:cNvSpPr>
          <p:nvPr/>
        </p:nvSpPr>
        <p:spPr>
          <a:xfrm xmlns:a="http://schemas.openxmlformats.org/drawingml/2006/main">
            <a:off x="609600" y="5429250"/>
            <a:ext cx="13430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850" b="0">
                <a:solidFill>
                  <a:srgbClr val="0E0E12"/>
                </a:solidFill>
                <a:latin typeface="JetBrains Mono"/>
                <a:ea typeface="JetBrains Mono"/>
                <a:cs typeface="JetBrains Mono"/>
              </a:defRPr>
            </a:pPr>
            <a:r>
              <a:rPr sz="2850" b="0">
                <a:solidFill>
                  <a:srgbClr val="0E0E12"/>
                </a:solidFill>
                <a:latin typeface="JetBrains Mono"/>
                <a:ea typeface="JetBrains Mono"/>
                <a:cs typeface="JetBrains Mono"/>
              </a:rPr>
              <a:t>Meetings create more work than I have time for.</a:t>
            </a:r>
          </a:p>
        </p:txBody>
      </p:sp>
      <p:sp>
        <p:nvSpPr>
          <p:cNvPr id="8" name="Editable 0-5">
            <a:extLst xmlns:a="http://schemas.openxmlformats.org/drawingml/2006/main">
              <a:ext uri="{FF2B5EF4-FFF2-40B4-BE49-F238E27FC236}">
                <a16:creationId xmlns:a16="http://schemas.microsoft.com/office/drawing/2014/main" id="{B83A7562-176F-4F88-B7E9-B6EB891EDE05}"/>
              </a:ext>
            </a:extLst>
          </p:cNvPr>
          <p:cNvSpPr>
            <a:spLocks xmlns:a="http://schemas.openxmlformats.org/drawingml/2006/main" noGrp="1"/>
          </p:cNvSpPr>
          <p:nvPr/>
        </p:nvSpPr>
        <p:spPr>
          <a:xfrm xmlns:a="http://schemas.openxmlformats.org/drawingml/2006/main">
            <a:off x="609600" y="6705600"/>
            <a:ext cx="1314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250" b="1">
                <a:solidFill>
                  <a:srgbClr val="0E0E12"/>
                </a:solidFill>
                <a:latin typeface="JetBrains Mono"/>
                <a:ea typeface="JetBrains Mono"/>
                <a:cs typeface="JetBrains Mono"/>
              </a:defRPr>
            </a:pPr>
            <a:r>
              <a:rPr sz="2250" b="1">
                <a:solidFill>
                  <a:srgbClr val="0E0E12"/>
                </a:solidFill>
                <a:latin typeface="JetBrains Mono"/>
                <a:ea typeface="JetBrains Mono"/>
                <a:cs typeface="JetBrains Mono"/>
              </a:rPr>
              <a:t>Mohammad Hamza Laghari</a:t>
            </a:r>
          </a:p>
        </p:txBody>
      </p:sp>
      <p:sp>
        <p:nvSpPr>
          <p:cNvPr id="9" name="Editable 0-6">
            <a:extLst xmlns:a="http://schemas.openxmlformats.org/drawingml/2006/main">
              <a:ext uri="{FF2B5EF4-FFF2-40B4-BE49-F238E27FC236}">
                <a16:creationId xmlns:a16="http://schemas.microsoft.com/office/drawing/2014/main" id="{7DBB0A65-A67B-40D8-8858-0A7C15290FAB}"/>
              </a:ext>
            </a:extLst>
          </p:cNvPr>
          <p:cNvSpPr>
            <a:spLocks xmlns:a="http://schemas.openxmlformats.org/drawingml/2006/main" noGrp="1"/>
          </p:cNvSpPr>
          <p:nvPr/>
        </p:nvSpPr>
        <p:spPr>
          <a:xfrm xmlns:a="http://schemas.openxmlformats.org/drawingml/2006/main">
            <a:off x="609600" y="7200900"/>
            <a:ext cx="1314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50" b="0">
                <a:solidFill>
                  <a:srgbClr val="6B6470"/>
                </a:solidFill>
                <a:latin typeface="JetBrains Mono"/>
                <a:ea typeface="JetBrains Mono"/>
                <a:cs typeface="JetBrains Mono"/>
              </a:defRPr>
            </a:pPr>
            <a:r>
              <a:rPr sz="1950" b="0">
                <a:solidFill>
                  <a:srgbClr val="6B6470"/>
                </a:solidFill>
                <a:latin typeface="JetBrains Mono"/>
                <a:ea typeface="JetBrains Mono"/>
                <a:cs typeface="JetBrains Mono"/>
              </a:rPr>
              <a:t>Lead AI Engineer   /   An ongoing Laghari Labs project</a:t>
            </a:r>
          </a:p>
        </p:txBody>
      </p:sp>
      <p:sp>
        <p:nvSpPr>
          <p:cNvPr id="10" name="Brand layout surface">
            <a:extLst xmlns:a="http://schemas.openxmlformats.org/drawingml/2006/main">
              <a:ext uri="{FF2B5EF4-FFF2-40B4-BE49-F238E27FC236}">
                <a16:creationId xmlns:a16="http://schemas.microsoft.com/office/drawing/2014/main" id="{0DA48576-8FD2-4A1A-A6DE-3E4811FC76A5}"/>
              </a:ext>
            </a:extLst>
          </p:cNvPr>
          <p:cNvSpPr>
            <a:spLocks xmlns:a="http://schemas.openxmlformats.org/drawingml/2006/main" noGrp="1"/>
          </p:cNvSpPr>
          <p:nvPr/>
        </p:nvSpPr>
        <p:spPr>
          <a:xfrm xmlns:a="http://schemas.openxmlformats.org/drawingml/2006/main">
            <a:off x="571500" y="7772400"/>
            <a:ext cx="14097000" cy="28575"/>
          </a:xfrm>
          <a:prstGeom xmlns:a="http://schemas.openxmlformats.org/drawingml/2006/main" prst="rect">
            <a:avLst/>
          </a:prstGeom>
          <a:solidFill xmlns:a="http://schemas.openxmlformats.org/drawingml/2006/main">
            <a:srgbClr val="0E0E12"/>
          </a:solidFill>
          <a:ln xmlns:a="http://schemas.openxmlformats.org/drawingml/2006/main" w="0">
            <a:noFill/>
          </a:ln>
        </p:spPr>
      </p:sp>
      <p:sp>
        <p:nvSpPr>
          <p:cNvPr id="11" name="Editable 0-8">
            <a:extLst xmlns:a="http://schemas.openxmlformats.org/drawingml/2006/main">
              <a:ext uri="{FF2B5EF4-FFF2-40B4-BE49-F238E27FC236}">
                <a16:creationId xmlns:a16="http://schemas.microsoft.com/office/drawing/2014/main" id="{63D907F4-A875-464D-B350-C404DC43DD38}"/>
              </a:ext>
            </a:extLst>
          </p:cNvPr>
          <p:cNvSpPr>
            <a:spLocks xmlns:a="http://schemas.openxmlformats.org/drawingml/2006/main" noGrp="1"/>
          </p:cNvSpPr>
          <p:nvPr/>
        </p:nvSpPr>
        <p:spPr>
          <a:xfrm xmlns:a="http://schemas.openxmlformats.org/drawingml/2006/main">
            <a:off x="571500" y="7991475"/>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25" b="1">
                <a:solidFill>
                  <a:srgbClr val="0E0E12"/>
                </a:solidFill>
                <a:latin typeface="Silkscreen"/>
                <a:ea typeface="Silkscreen"/>
                <a:cs typeface="Silkscreen"/>
              </a:defRPr>
            </a:pPr>
            <a:r>
              <a:rPr sz="2025" b="1">
                <a:solidFill>
                  <a:srgbClr val="0E0E12"/>
                </a:solidFill>
                <a:latin typeface="Silkscreen"/>
                <a:ea typeface="Silkscreen"/>
                <a:cs typeface="Silkscreen"/>
              </a:rPr>
              <a:t>LaghariLabs.io</a:t>
            </a:r>
          </a:p>
        </p:txBody>
      </p:sp>
      <p:sp>
        <p:nvSpPr>
          <p:cNvPr id="12" name="Editable 0-9">
            <a:extLst xmlns:a="http://schemas.openxmlformats.org/drawingml/2006/main">
              <a:ext uri="{FF2B5EF4-FFF2-40B4-BE49-F238E27FC236}">
                <a16:creationId xmlns:a16="http://schemas.microsoft.com/office/drawing/2014/main" id="{A5C6A6F9-770B-40E4-AED1-D74A20A0570B}"/>
              </a:ext>
            </a:extLst>
          </p:cNvPr>
          <p:cNvSpPr>
            <a:spLocks xmlns:a="http://schemas.openxmlformats.org/drawingml/2006/main" noGrp="1"/>
          </p:cNvSpPr>
          <p:nvPr/>
        </p:nvSpPr>
        <p:spPr>
          <a:xfrm xmlns:a="http://schemas.openxmlformats.org/drawingml/2006/main">
            <a:off x="10572750" y="7991475"/>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0E0E12"/>
                </a:solidFill>
                <a:latin typeface="JetBrains Mono"/>
                <a:ea typeface="JetBrains Mono"/>
                <a:cs typeface="JetBrains Mono"/>
              </a:defRPr>
            </a:pPr>
            <a:r>
              <a:rPr sz="1800" b="0">
                <a:solidFill>
                  <a:srgbClr val="0E0E12"/>
                </a:solidFill>
                <a:latin typeface="JetBrains Mono"/>
                <a:ea typeface="JetBrains Mono"/>
                <a:cs typeface="JetBrains Mono"/>
              </a:rPr>
              <a:t>@mhlaghari</a:t>
            </a:r>
          </a:p>
        </p:txBody>
      </p:sp>
      <p:sp>
        <p:nvSpPr>
          <p:cNvPr id="13" name="Editable 0-10">
            <a:extLst xmlns:a="http://schemas.openxmlformats.org/drawingml/2006/main">
              <a:ext uri="{FF2B5EF4-FFF2-40B4-BE49-F238E27FC236}">
                <a16:creationId xmlns:a16="http://schemas.microsoft.com/office/drawing/2014/main" id="{12EF0956-EC08-4CD3-9BCA-B72D30C24DE7}"/>
              </a:ext>
            </a:extLst>
          </p:cNvPr>
          <p:cNvSpPr>
            <a:spLocks xmlns:a="http://schemas.openxmlformats.org/drawingml/2006/main" noGrp="1"/>
          </p:cNvSpPr>
          <p:nvPr/>
        </p:nvSpPr>
        <p:spPr>
          <a:xfrm xmlns:a="http://schemas.openxmlformats.org/drawingml/2006/main">
            <a:off x="13192125" y="7991475"/>
            <a:ext cx="1476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800" b="0">
                <a:solidFill>
                  <a:srgbClr val="0E0E12"/>
                </a:solidFill>
                <a:latin typeface="JetBrains Mono"/>
                <a:ea typeface="JetBrains Mono"/>
                <a:cs typeface="JetBrains Mono"/>
              </a:defRPr>
            </a:pPr>
            <a:r>
              <a:rPr sz="1800" b="0">
                <a:solidFill>
                  <a:srgbClr val="0E0E12"/>
                </a:solidFill>
                <a:latin typeface="JetBrains Mono"/>
                <a:ea typeface="JetBrains Mono"/>
                <a:cs typeface="JetBrains Mono"/>
              </a:rPr>
              <a:t>01 / 08</a:t>
            </a:r>
          </a:p>
        </p:txBody>
      </p:sp>
    </p:spTree>
    <p:extLst>
      <p:ext uri="{BB962C8B-B14F-4D97-AF65-F5344CB8AC3E}">
        <p14:creationId xmlns:p14="http://schemas.microsoft.com/office/powerpoint/2010/main" val="1550059688"/>
      </p:ext>
    </p:extLst>
  </p:cSld>
</p:sld>
</file>

<file path=ppt/slides/slide2.xml><?xml version="1.0" encoding="utf-8"?>
<p:sld xmlns:p="http://schemas.openxmlformats.org/presentationml/2006/main">
  <p:cSld>
    <p:bg>
      <p:bgPr>
        <a:solidFill xmlns:a="http://schemas.openxmlformats.org/drawingml/2006/main">
          <a:srgbClr val="F2EBDA"/>
        </a:solidFill>
      </p:bgPr>
    </p:bg>
    <p:spTree>
      <p:nvGrpSpPr>
        <p:cNvPr id="1" name=""/>
        <p:cNvGrpSpPr/>
        <p:nvPr/>
      </p:nvGrpSpPr>
      <p:grpSpPr>
        <a:xfrm xmlns:a="http://schemas.openxmlformats.org/drawingml/2006/main"/>
      </p:grpSpPr>
      <p:sp>
        <p:nvSpPr>
          <p:cNvPr id="14" name="Brand frame">
            <a:extLst xmlns:a="http://schemas.openxmlformats.org/drawingml/2006/main">
              <a:ext uri="{FF2B5EF4-FFF2-40B4-BE49-F238E27FC236}">
                <a16:creationId xmlns:a16="http://schemas.microsoft.com/office/drawing/2014/main" id="{0B53C38B-5FCB-4347-B0E2-01B77A3B17EB}"/>
              </a:ext>
            </a:extLst>
          </p:cNvPr>
          <p:cNvSpPr>
            <a:spLocks xmlns:a="http://schemas.openxmlformats.org/drawingml/2006/main" noGrp="1"/>
          </p:cNvSpPr>
          <p:nvPr/>
        </p:nvSpPr>
        <p:spPr>
          <a:xfrm xmlns:a="http://schemas.openxmlformats.org/drawingml/2006/main">
            <a:off x="19050" y="19050"/>
            <a:ext cx="15201900" cy="8534400"/>
          </a:xfrm>
          <a:prstGeom xmlns:a="http://schemas.openxmlformats.org/drawingml/2006/main" prst="rect">
            <a:avLst/>
          </a:prstGeom>
          <a:noFill xmlns:a="http://schemas.openxmlformats.org/drawingml/2006/main"/>
          <a:ln xmlns:a="http://schemas.openxmlformats.org/drawingml/2006/main" w="38100">
            <a:solidFill>
              <a:srgbClr val="0E0E12"/>
            </a:solidFill>
          </a:ln>
        </p:spPr>
      </p:sp>
      <p:sp>
        <p:nvSpPr>
          <p:cNvPr id="2" name="Editable 1-0">
            <a:extLst xmlns:a="http://schemas.openxmlformats.org/drawingml/2006/main">
              <a:ext uri="{FF2B5EF4-FFF2-40B4-BE49-F238E27FC236}">
                <a16:creationId xmlns:a16="http://schemas.microsoft.com/office/drawing/2014/main" id="{56D9066A-5FB5-41AD-9CCA-75BC3724BC1B}"/>
              </a:ext>
            </a:extLst>
          </p:cNvPr>
          <p:cNvSpPr>
            <a:spLocks xmlns:a="http://schemas.openxmlformats.org/drawingml/2006/main" noGrp="1"/>
          </p:cNvSpPr>
          <p:nvPr/>
        </p:nvSpPr>
        <p:spPr>
          <a:xfrm xmlns:a="http://schemas.openxmlformats.org/drawingml/2006/main">
            <a:off x="571500" y="495300"/>
            <a:ext cx="1371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1">
                <a:solidFill>
                  <a:srgbClr val="0E0E12"/>
                </a:solidFill>
                <a:latin typeface="JetBrains Mono"/>
                <a:ea typeface="JetBrains Mono"/>
                <a:cs typeface="JetBrains Mono"/>
              </a:defRPr>
            </a:pPr>
            <a:r>
              <a:rPr sz="1800" b="1">
                <a:solidFill>
                  <a:srgbClr val="0E0E12"/>
                </a:solidFill>
                <a:latin typeface="JetBrains Mono"/>
                <a:ea typeface="JetBrains Mono"/>
                <a:cs typeface="JetBrains Mono"/>
              </a:rPr>
              <a:t>THE WORK AFTER THE MEETING</a:t>
            </a:r>
          </a:p>
        </p:txBody>
      </p:sp>
      <p:sp>
        <p:nvSpPr>
          <p:cNvPr id="3" name="Editable 1-1">
            <a:extLst xmlns:a="http://schemas.openxmlformats.org/drawingml/2006/main">
              <a:ext uri="{FF2B5EF4-FFF2-40B4-BE49-F238E27FC236}">
                <a16:creationId xmlns:a16="http://schemas.microsoft.com/office/drawing/2014/main" id="{21BC10B8-995D-4C49-A626-F4318CC5081B}"/>
              </a:ext>
            </a:extLst>
          </p:cNvPr>
          <p:cNvSpPr>
            <a:spLocks xmlns:a="http://schemas.openxmlformats.org/drawingml/2006/main" noGrp="1"/>
          </p:cNvSpPr>
          <p:nvPr/>
        </p:nvSpPr>
        <p:spPr>
          <a:xfrm xmlns:a="http://schemas.openxmlformats.org/drawingml/2006/main">
            <a:off x="571500" y="129540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6900" b="0">
                <a:solidFill>
                  <a:srgbClr val="0E0E12"/>
                </a:solidFill>
                <a:latin typeface="Silkscreen"/>
                <a:ea typeface="Silkscreen"/>
                <a:cs typeface="Silkscreen"/>
              </a:defRPr>
            </a:pPr>
            <a:r>
              <a:rPr sz="6900" b="0">
                <a:solidFill>
                  <a:srgbClr val="0E0E12"/>
                </a:solidFill>
                <a:latin typeface="Silkscreen"/>
                <a:ea typeface="Silkscreen"/>
                <a:cs typeface="Silkscreen"/>
              </a:rPr>
              <a:t>Every action item</a:t>
            </a:r>
          </a:p>
        </p:txBody>
      </p:sp>
      <p:sp>
        <p:nvSpPr>
          <p:cNvPr id="4" name="Editable 1-2">
            <a:extLst xmlns:a="http://schemas.openxmlformats.org/drawingml/2006/main">
              <a:ext uri="{FF2B5EF4-FFF2-40B4-BE49-F238E27FC236}">
                <a16:creationId xmlns:a16="http://schemas.microsoft.com/office/drawing/2014/main" id="{8F0293B4-0106-4A44-B25F-A392220A09D6}"/>
              </a:ext>
            </a:extLst>
          </p:cNvPr>
          <p:cNvSpPr>
            <a:spLocks xmlns:a="http://schemas.openxmlformats.org/drawingml/2006/main" noGrp="1"/>
          </p:cNvSpPr>
          <p:nvPr/>
        </p:nvSpPr>
        <p:spPr>
          <a:xfrm xmlns:a="http://schemas.openxmlformats.org/drawingml/2006/main">
            <a:off x="571500" y="224790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6900" b="0">
                <a:solidFill>
                  <a:srgbClr val="0E0E12"/>
                </a:solidFill>
                <a:latin typeface="Silkscreen"/>
                <a:ea typeface="Silkscreen"/>
                <a:cs typeface="Silkscreen"/>
              </a:defRPr>
            </a:pPr>
            <a:r>
              <a:rPr sz="6900" b="0">
                <a:solidFill>
                  <a:srgbClr val="0E0E12"/>
                </a:solidFill>
                <a:latin typeface="Silkscreen"/>
                <a:ea typeface="Silkscreen"/>
                <a:cs typeface="Silkscreen"/>
              </a:rPr>
              <a:t>costs me time</a:t>
            </a:r>
          </a:p>
        </p:txBody>
      </p:sp>
      <p:sp>
        <p:nvSpPr>
          <p:cNvPr id="5" name="Editable 1-3">
            <a:extLst xmlns:a="http://schemas.openxmlformats.org/drawingml/2006/main">
              <a:ext uri="{FF2B5EF4-FFF2-40B4-BE49-F238E27FC236}">
                <a16:creationId xmlns:a16="http://schemas.microsoft.com/office/drawing/2014/main" id="{5612433E-6063-4894-BF4E-848EF3FCACCC}"/>
              </a:ext>
            </a:extLst>
          </p:cNvPr>
          <p:cNvSpPr>
            <a:spLocks xmlns:a="http://schemas.openxmlformats.org/drawingml/2006/main" noGrp="1"/>
          </p:cNvSpPr>
          <p:nvPr/>
        </p:nvSpPr>
        <p:spPr>
          <a:xfrm xmlns:a="http://schemas.openxmlformats.org/drawingml/2006/main">
            <a:off x="457200" y="3619500"/>
            <a:ext cx="76200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8450" b="0">
                <a:solidFill>
                  <a:srgbClr val="FF4D2E"/>
                </a:solidFill>
                <a:latin typeface="Silkscreen"/>
                <a:ea typeface="Silkscreen"/>
                <a:cs typeface="Silkscreen"/>
              </a:defRPr>
            </a:pPr>
            <a:r>
              <a:rPr sz="18450" b="0">
                <a:solidFill>
                  <a:srgbClr val="FF4D2E"/>
                </a:solidFill>
                <a:latin typeface="Silkscreen"/>
                <a:ea typeface="Silkscreen"/>
                <a:cs typeface="Silkscreen"/>
              </a:rPr>
              <a:t>1–2</a:t>
            </a:r>
          </a:p>
        </p:txBody>
      </p:sp>
      <p:sp>
        <p:nvSpPr>
          <p:cNvPr id="6" name="Editable 1-4">
            <a:extLst xmlns:a="http://schemas.openxmlformats.org/drawingml/2006/main">
              <a:ext uri="{FF2B5EF4-FFF2-40B4-BE49-F238E27FC236}">
                <a16:creationId xmlns:a16="http://schemas.microsoft.com/office/drawing/2014/main" id="{3F03072C-1235-4931-BABA-031205ABB87E}"/>
              </a:ext>
            </a:extLst>
          </p:cNvPr>
          <p:cNvSpPr>
            <a:spLocks xmlns:a="http://schemas.openxmlformats.org/drawingml/2006/main" noGrp="1"/>
          </p:cNvSpPr>
          <p:nvPr/>
        </p:nvSpPr>
        <p:spPr>
          <a:xfrm xmlns:a="http://schemas.openxmlformats.org/drawingml/2006/main">
            <a:off x="742950" y="6067425"/>
            <a:ext cx="571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5700" b="0">
                <a:solidFill>
                  <a:srgbClr val="0E0E12"/>
                </a:solidFill>
                <a:latin typeface="Silkscreen"/>
                <a:ea typeface="Silkscreen"/>
                <a:cs typeface="Silkscreen"/>
              </a:defRPr>
            </a:pPr>
            <a:r>
              <a:rPr sz="5700" b="0">
                <a:solidFill>
                  <a:srgbClr val="0E0E12"/>
                </a:solidFill>
                <a:latin typeface="Silkscreen"/>
                <a:ea typeface="Silkscreen"/>
                <a:cs typeface="Silkscreen"/>
              </a:rPr>
              <a:t>hours</a:t>
            </a:r>
          </a:p>
        </p:txBody>
      </p:sp>
      <p:sp>
        <p:nvSpPr>
          <p:cNvPr id="7" name="Brand layout surface">
            <a:extLst xmlns:a="http://schemas.openxmlformats.org/drawingml/2006/main">
              <a:ext uri="{FF2B5EF4-FFF2-40B4-BE49-F238E27FC236}">
                <a16:creationId xmlns:a16="http://schemas.microsoft.com/office/drawing/2014/main" id="{84C1AF1E-C8EE-4B5E-923C-BC6E3B603E78}"/>
              </a:ext>
            </a:extLst>
          </p:cNvPr>
          <p:cNvSpPr>
            <a:spLocks xmlns:a="http://schemas.openxmlformats.org/drawingml/2006/main" noGrp="1"/>
          </p:cNvSpPr>
          <p:nvPr/>
        </p:nvSpPr>
        <p:spPr>
          <a:xfrm xmlns:a="http://schemas.openxmlformats.org/drawingml/2006/main">
            <a:off x="8115300" y="3781425"/>
            <a:ext cx="47625" cy="3067050"/>
          </a:xfrm>
          <a:prstGeom xmlns:a="http://schemas.openxmlformats.org/drawingml/2006/main" prst="rect">
            <a:avLst/>
          </a:prstGeom>
          <a:solidFill xmlns:a="http://schemas.openxmlformats.org/drawingml/2006/main">
            <a:srgbClr val="0E0E12"/>
          </a:solidFill>
          <a:ln xmlns:a="http://schemas.openxmlformats.org/drawingml/2006/main" w="0">
            <a:noFill/>
          </a:ln>
        </p:spPr>
      </p:sp>
      <p:sp>
        <p:nvSpPr>
          <p:cNvPr id="8" name="Editable 1-6">
            <a:extLst xmlns:a="http://schemas.openxmlformats.org/drawingml/2006/main">
              <a:ext uri="{FF2B5EF4-FFF2-40B4-BE49-F238E27FC236}">
                <a16:creationId xmlns:a16="http://schemas.microsoft.com/office/drawing/2014/main" id="{D8768526-9FA6-4956-B1FE-FB2E37F3406C}"/>
              </a:ext>
            </a:extLst>
          </p:cNvPr>
          <p:cNvSpPr>
            <a:spLocks xmlns:a="http://schemas.openxmlformats.org/drawingml/2006/main" noGrp="1"/>
          </p:cNvSpPr>
          <p:nvPr/>
        </p:nvSpPr>
        <p:spPr>
          <a:xfrm xmlns:a="http://schemas.openxmlformats.org/drawingml/2006/main">
            <a:off x="8620125" y="3952875"/>
            <a:ext cx="5905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60000"/>
              </a:lnSpc>
              <a:buNone/>
              <a:defRPr sz="2775" b="0">
                <a:solidFill>
                  <a:srgbClr val="0E0E12"/>
                </a:solidFill>
                <a:latin typeface="JetBrains Mono"/>
                <a:ea typeface="JetBrains Mono"/>
                <a:cs typeface="JetBrains Mono"/>
              </a:defRPr>
            </a:pPr>
            <a:r>
              <a:rPr sz="2775" b="0">
                <a:solidFill>
                  <a:srgbClr val="0E0E12"/>
                </a:solidFill>
                <a:latin typeface="JetBrains Mono"/>
                <a:ea typeface="JetBrains Mono"/>
                <a:cs typeface="JetBrains Mono"/>
              </a:rPr>
              <a:t>Research the options.</a:t>
            </a:r>
          </a:p>
          <a:p xmlns:a="http://schemas.openxmlformats.org/drawingml/2006/main">
            <a:pPr algn="l">
              <a:lnSpc>
                <a:spcPct val="160000"/>
              </a:lnSpc>
              <a:buNone/>
              <a:defRPr sz="2775" b="0">
                <a:solidFill>
                  <a:srgbClr val="0E0E12"/>
                </a:solidFill>
                <a:latin typeface="JetBrains Mono"/>
                <a:ea typeface="JetBrains Mono"/>
                <a:cs typeface="JetBrains Mono"/>
              </a:defRPr>
            </a:pPr>
            <a:r>
              <a:rPr sz="2775" b="0">
                <a:solidFill>
                  <a:srgbClr val="0E0E12"/>
                </a:solidFill>
                <a:latin typeface="JetBrains Mono"/>
                <a:ea typeface="JetBrains Mono"/>
                <a:cs typeface="JetBrains Mono"/>
              </a:rPr>
              <a:t>Draft the architecture.</a:t>
            </a:r>
          </a:p>
          <a:p xmlns:a="http://schemas.openxmlformats.org/drawingml/2006/main">
            <a:pPr algn="l">
              <a:lnSpc>
                <a:spcPct val="160000"/>
              </a:lnSpc>
              <a:buNone/>
              <a:defRPr sz="2775" b="0">
                <a:solidFill>
                  <a:srgbClr val="0E0E12"/>
                </a:solidFill>
                <a:latin typeface="JetBrains Mono"/>
                <a:ea typeface="JetBrains Mono"/>
                <a:cs typeface="JetBrains Mono"/>
              </a:defRPr>
            </a:pPr>
            <a:r>
              <a:rPr sz="2775" b="0">
                <a:solidFill>
                  <a:srgbClr val="0E0E12"/>
                </a:solidFill>
                <a:latin typeface="JetBrains Mono"/>
                <a:ea typeface="JetBrains Mono"/>
                <a:cs typeface="JetBrains Mono"/>
              </a:rPr>
              <a:t>Write the follow-up.</a:t>
            </a:r>
          </a:p>
        </p:txBody>
      </p:sp>
      <p:sp>
        <p:nvSpPr>
          <p:cNvPr id="9" name="Editable 1-7">
            <a:extLst xmlns:a="http://schemas.openxmlformats.org/drawingml/2006/main">
              <a:ext uri="{FF2B5EF4-FFF2-40B4-BE49-F238E27FC236}">
                <a16:creationId xmlns:a16="http://schemas.microsoft.com/office/drawing/2014/main" id="{65BB7C68-9C4C-4D6B-AB85-7FB6079A3F0F}"/>
              </a:ext>
            </a:extLst>
          </p:cNvPr>
          <p:cNvSpPr>
            <a:spLocks xmlns:a="http://schemas.openxmlformats.org/drawingml/2006/main" noGrp="1"/>
          </p:cNvSpPr>
          <p:nvPr/>
        </p:nvSpPr>
        <p:spPr>
          <a:xfrm xmlns:a="http://schemas.openxmlformats.org/drawingml/2006/main">
            <a:off x="8620125" y="6334125"/>
            <a:ext cx="590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250" b="1">
                <a:solidFill>
                  <a:srgbClr val="0E0E12"/>
                </a:solidFill>
                <a:latin typeface="JetBrains Mono"/>
                <a:ea typeface="JetBrains Mono"/>
                <a:cs typeface="JetBrains Mono"/>
              </a:defRPr>
            </a:pPr>
            <a:r>
              <a:rPr sz="2250" b="1">
                <a:solidFill>
                  <a:srgbClr val="0E0E12"/>
                </a:solidFill>
                <a:latin typeface="JetBrains Mono"/>
                <a:ea typeface="JetBrains Mono"/>
                <a:cs typeface="JetBrains Mono"/>
              </a:rPr>
              <a:t>Then the next meeting starts.</a:t>
            </a:r>
          </a:p>
        </p:txBody>
      </p:sp>
      <p:sp>
        <p:nvSpPr>
          <p:cNvPr id="10" name="Brand layout surface">
            <a:extLst xmlns:a="http://schemas.openxmlformats.org/drawingml/2006/main">
              <a:ext uri="{FF2B5EF4-FFF2-40B4-BE49-F238E27FC236}">
                <a16:creationId xmlns:a16="http://schemas.microsoft.com/office/drawing/2014/main" id="{DDB5B953-E1E8-48EA-A735-AC84FA039777}"/>
              </a:ext>
            </a:extLst>
          </p:cNvPr>
          <p:cNvSpPr>
            <a:spLocks xmlns:a="http://schemas.openxmlformats.org/drawingml/2006/main" noGrp="1"/>
          </p:cNvSpPr>
          <p:nvPr/>
        </p:nvSpPr>
        <p:spPr>
          <a:xfrm xmlns:a="http://schemas.openxmlformats.org/drawingml/2006/main">
            <a:off x="571500" y="7772400"/>
            <a:ext cx="14097000" cy="28575"/>
          </a:xfrm>
          <a:prstGeom xmlns:a="http://schemas.openxmlformats.org/drawingml/2006/main" prst="rect">
            <a:avLst/>
          </a:prstGeom>
          <a:solidFill xmlns:a="http://schemas.openxmlformats.org/drawingml/2006/main">
            <a:srgbClr val="0E0E12"/>
          </a:solidFill>
          <a:ln xmlns:a="http://schemas.openxmlformats.org/drawingml/2006/main" w="0">
            <a:noFill/>
          </a:ln>
        </p:spPr>
      </p:sp>
      <p:sp>
        <p:nvSpPr>
          <p:cNvPr id="11" name="Editable 1-9">
            <a:extLst xmlns:a="http://schemas.openxmlformats.org/drawingml/2006/main">
              <a:ext uri="{FF2B5EF4-FFF2-40B4-BE49-F238E27FC236}">
                <a16:creationId xmlns:a16="http://schemas.microsoft.com/office/drawing/2014/main" id="{FB964AD6-49E1-41DA-9C5E-2E9896C6C619}"/>
              </a:ext>
            </a:extLst>
          </p:cNvPr>
          <p:cNvSpPr>
            <a:spLocks xmlns:a="http://schemas.openxmlformats.org/drawingml/2006/main" noGrp="1"/>
          </p:cNvSpPr>
          <p:nvPr/>
        </p:nvSpPr>
        <p:spPr>
          <a:xfrm xmlns:a="http://schemas.openxmlformats.org/drawingml/2006/main">
            <a:off x="571500" y="7991475"/>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25" b="1">
                <a:solidFill>
                  <a:srgbClr val="0E0E12"/>
                </a:solidFill>
                <a:latin typeface="Silkscreen"/>
                <a:ea typeface="Silkscreen"/>
                <a:cs typeface="Silkscreen"/>
              </a:defRPr>
            </a:pPr>
            <a:r>
              <a:rPr sz="2025" b="1">
                <a:solidFill>
                  <a:srgbClr val="0E0E12"/>
                </a:solidFill>
                <a:latin typeface="Silkscreen"/>
                <a:ea typeface="Silkscreen"/>
                <a:cs typeface="Silkscreen"/>
              </a:rPr>
              <a:t>LaghariLabs.io</a:t>
            </a:r>
          </a:p>
        </p:txBody>
      </p:sp>
      <p:sp>
        <p:nvSpPr>
          <p:cNvPr id="12" name="Editable 1-10">
            <a:extLst xmlns:a="http://schemas.openxmlformats.org/drawingml/2006/main">
              <a:ext uri="{FF2B5EF4-FFF2-40B4-BE49-F238E27FC236}">
                <a16:creationId xmlns:a16="http://schemas.microsoft.com/office/drawing/2014/main" id="{182E8933-82CB-41C7-930E-09E96876157F}"/>
              </a:ext>
            </a:extLst>
          </p:cNvPr>
          <p:cNvSpPr>
            <a:spLocks xmlns:a="http://schemas.openxmlformats.org/drawingml/2006/main" noGrp="1"/>
          </p:cNvSpPr>
          <p:nvPr/>
        </p:nvSpPr>
        <p:spPr>
          <a:xfrm xmlns:a="http://schemas.openxmlformats.org/drawingml/2006/main">
            <a:off x="10572750" y="7991475"/>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0E0E12"/>
                </a:solidFill>
                <a:latin typeface="JetBrains Mono"/>
                <a:ea typeface="JetBrains Mono"/>
                <a:cs typeface="JetBrains Mono"/>
              </a:defRPr>
            </a:pPr>
            <a:r>
              <a:rPr sz="1800" b="0">
                <a:solidFill>
                  <a:srgbClr val="0E0E12"/>
                </a:solidFill>
                <a:latin typeface="JetBrains Mono"/>
                <a:ea typeface="JetBrains Mono"/>
                <a:cs typeface="JetBrains Mono"/>
              </a:rPr>
              <a:t>@mhlaghari</a:t>
            </a:r>
          </a:p>
        </p:txBody>
      </p:sp>
      <p:sp>
        <p:nvSpPr>
          <p:cNvPr id="13" name="Editable 1-11">
            <a:extLst xmlns:a="http://schemas.openxmlformats.org/drawingml/2006/main">
              <a:ext uri="{FF2B5EF4-FFF2-40B4-BE49-F238E27FC236}">
                <a16:creationId xmlns:a16="http://schemas.microsoft.com/office/drawing/2014/main" id="{526D6D86-DBAB-45D8-BA6A-D7CF396365C2}"/>
              </a:ext>
            </a:extLst>
          </p:cNvPr>
          <p:cNvSpPr>
            <a:spLocks xmlns:a="http://schemas.openxmlformats.org/drawingml/2006/main" noGrp="1"/>
          </p:cNvSpPr>
          <p:nvPr/>
        </p:nvSpPr>
        <p:spPr>
          <a:xfrm xmlns:a="http://schemas.openxmlformats.org/drawingml/2006/main">
            <a:off x="13192125" y="7991475"/>
            <a:ext cx="1476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800" b="0">
                <a:solidFill>
                  <a:srgbClr val="0E0E12"/>
                </a:solidFill>
                <a:latin typeface="JetBrains Mono"/>
                <a:ea typeface="JetBrains Mono"/>
                <a:cs typeface="JetBrains Mono"/>
              </a:defRPr>
            </a:pPr>
            <a:r>
              <a:rPr sz="1800" b="0">
                <a:solidFill>
                  <a:srgbClr val="0E0E12"/>
                </a:solidFill>
                <a:latin typeface="JetBrains Mono"/>
                <a:ea typeface="JetBrains Mono"/>
                <a:cs typeface="JetBrains Mono"/>
              </a:rPr>
              <a:t>02 / 08</a:t>
            </a:r>
          </a:p>
        </p:txBody>
      </p:sp>
    </p:spTree>
    <p:extLst>
      <p:ext uri="{BB962C8B-B14F-4D97-AF65-F5344CB8AC3E}">
        <p14:creationId xmlns:p14="http://schemas.microsoft.com/office/powerpoint/2010/main" val="1237850159"/>
      </p:ext>
    </p:extLst>
  </p:cSld>
</p:sld>
</file>

<file path=ppt/slides/slide3.xml><?xml version="1.0" encoding="utf-8"?>
<p:sld xmlns:p="http://schemas.openxmlformats.org/presentationml/2006/main">
  <p:cSld>
    <p:bg>
      <p:bgPr>
        <a:solidFill xmlns:a="http://schemas.openxmlformats.org/drawingml/2006/main">
          <a:srgbClr val="3A86FF"/>
        </a:solidFill>
      </p:bgPr>
    </p:bg>
    <p:spTree>
      <p:nvGrpSpPr>
        <p:cNvPr id="1" name=""/>
        <p:cNvGrpSpPr/>
        <p:nvPr/>
      </p:nvGrpSpPr>
      <p:grpSpPr>
        <a:xfrm xmlns:a="http://schemas.openxmlformats.org/drawingml/2006/main"/>
      </p:grpSpPr>
      <p:sp>
        <p:nvSpPr>
          <p:cNvPr id="13" name="Brand frame">
            <a:extLst xmlns:a="http://schemas.openxmlformats.org/drawingml/2006/main">
              <a:ext uri="{FF2B5EF4-FFF2-40B4-BE49-F238E27FC236}">
                <a16:creationId xmlns:a16="http://schemas.microsoft.com/office/drawing/2014/main" id="{3C3DFC74-3AEE-4887-B70A-A86E8FBDA75E}"/>
              </a:ext>
            </a:extLst>
          </p:cNvPr>
          <p:cNvSpPr>
            <a:spLocks xmlns:a="http://schemas.openxmlformats.org/drawingml/2006/main" noGrp="1"/>
          </p:cNvSpPr>
          <p:nvPr/>
        </p:nvSpPr>
        <p:spPr>
          <a:xfrm xmlns:a="http://schemas.openxmlformats.org/drawingml/2006/main">
            <a:off x="19050" y="19050"/>
            <a:ext cx="15201900" cy="8534400"/>
          </a:xfrm>
          <a:prstGeom xmlns:a="http://schemas.openxmlformats.org/drawingml/2006/main" prst="rect">
            <a:avLst/>
          </a:prstGeom>
          <a:noFill xmlns:a="http://schemas.openxmlformats.org/drawingml/2006/main"/>
          <a:ln xmlns:a="http://schemas.openxmlformats.org/drawingml/2006/main" w="38100">
            <a:solidFill>
              <a:srgbClr val="0E0E12"/>
            </a:solidFill>
          </a:ln>
        </p:spPr>
      </p:sp>
      <p:sp>
        <p:nvSpPr>
          <p:cNvPr id="2" name="Editable 2-0">
            <a:extLst xmlns:a="http://schemas.openxmlformats.org/drawingml/2006/main">
              <a:ext uri="{FF2B5EF4-FFF2-40B4-BE49-F238E27FC236}">
                <a16:creationId xmlns:a16="http://schemas.microsoft.com/office/drawing/2014/main" id="{6A3437C6-28E7-4B17-92B1-48296CC264AF}"/>
              </a:ext>
            </a:extLst>
          </p:cNvPr>
          <p:cNvSpPr>
            <a:spLocks xmlns:a="http://schemas.openxmlformats.org/drawingml/2006/main" noGrp="1"/>
          </p:cNvSpPr>
          <p:nvPr/>
        </p:nvSpPr>
        <p:spPr>
          <a:xfrm xmlns:a="http://schemas.openxmlformats.org/drawingml/2006/main">
            <a:off x="571500" y="495300"/>
            <a:ext cx="1371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1">
                <a:solidFill>
                  <a:srgbClr val="F2EBDA"/>
                </a:solidFill>
                <a:latin typeface="JetBrains Mono"/>
                <a:ea typeface="JetBrains Mono"/>
                <a:cs typeface="JetBrains Mono"/>
              </a:defRPr>
            </a:pPr>
            <a:r>
              <a:rPr sz="1800" b="1">
                <a:solidFill>
                  <a:srgbClr val="F2EBDA"/>
                </a:solidFill>
                <a:latin typeface="JetBrains Mono"/>
                <a:ea typeface="JetBrains Mono"/>
                <a:cs typeface="JetBrains Mono"/>
              </a:rPr>
              <a:t>WHAT GETS SQUEEZED</a:t>
            </a:r>
          </a:p>
        </p:txBody>
      </p:sp>
      <p:sp>
        <p:nvSpPr>
          <p:cNvPr id="3" name="Editable 2-1">
            <a:extLst xmlns:a="http://schemas.openxmlformats.org/drawingml/2006/main">
              <a:ext uri="{FF2B5EF4-FFF2-40B4-BE49-F238E27FC236}">
                <a16:creationId xmlns:a16="http://schemas.microsoft.com/office/drawing/2014/main" id="{0993A8F0-FF18-4B59-BE85-A48C734C094E}"/>
              </a:ext>
            </a:extLst>
          </p:cNvPr>
          <p:cNvSpPr>
            <a:spLocks xmlns:a="http://schemas.openxmlformats.org/drawingml/2006/main" noGrp="1"/>
          </p:cNvSpPr>
          <p:nvPr/>
        </p:nvSpPr>
        <p:spPr>
          <a:xfrm xmlns:a="http://schemas.openxmlformats.org/drawingml/2006/main">
            <a:off x="571500" y="1600200"/>
            <a:ext cx="13811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7950" b="0">
                <a:solidFill>
                  <a:srgbClr val="F2EBDA"/>
                </a:solidFill>
                <a:latin typeface="Silkscreen"/>
                <a:ea typeface="Silkscreen"/>
                <a:cs typeface="Silkscreen"/>
              </a:defRPr>
            </a:pPr>
            <a:r>
              <a:rPr sz="7950" b="0">
                <a:solidFill>
                  <a:srgbClr val="F2EBDA"/>
                </a:solidFill>
                <a:latin typeface="Silkscreen"/>
                <a:ea typeface="Silkscreen"/>
                <a:cs typeface="Silkscreen"/>
              </a:rPr>
              <a:t>My own projects</a:t>
            </a:r>
          </a:p>
        </p:txBody>
      </p:sp>
      <p:sp>
        <p:nvSpPr>
          <p:cNvPr id="4" name="Editable 2-2">
            <a:extLst xmlns:a="http://schemas.openxmlformats.org/drawingml/2006/main">
              <a:ext uri="{FF2B5EF4-FFF2-40B4-BE49-F238E27FC236}">
                <a16:creationId xmlns:a16="http://schemas.microsoft.com/office/drawing/2014/main" id="{1F5ACEF8-5DCA-49D4-AEE3-ABFFD4D22C49}"/>
              </a:ext>
            </a:extLst>
          </p:cNvPr>
          <p:cNvSpPr>
            <a:spLocks xmlns:a="http://schemas.openxmlformats.org/drawingml/2006/main" noGrp="1"/>
          </p:cNvSpPr>
          <p:nvPr/>
        </p:nvSpPr>
        <p:spPr>
          <a:xfrm xmlns:a="http://schemas.openxmlformats.org/drawingml/2006/main">
            <a:off x="571500" y="2809875"/>
            <a:ext cx="13811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7950" b="0">
                <a:solidFill>
                  <a:srgbClr val="F2EBDA"/>
                </a:solidFill>
                <a:latin typeface="Silkscreen"/>
                <a:ea typeface="Silkscreen"/>
                <a:cs typeface="Silkscreen"/>
              </a:defRPr>
            </a:pPr>
            <a:r>
              <a:rPr sz="7950" b="0">
                <a:solidFill>
                  <a:srgbClr val="F2EBDA"/>
                </a:solidFill>
                <a:latin typeface="Silkscreen"/>
                <a:ea typeface="Silkscreen"/>
                <a:cs typeface="Silkscreen"/>
              </a:rPr>
              <a:t>get the time</a:t>
            </a:r>
          </a:p>
        </p:txBody>
      </p:sp>
      <p:sp>
        <p:nvSpPr>
          <p:cNvPr id="5" name="Pixel offset shadow">
            <a:extLst xmlns:a="http://schemas.openxmlformats.org/drawingml/2006/main">
              <a:ext uri="{FF2B5EF4-FFF2-40B4-BE49-F238E27FC236}">
                <a16:creationId xmlns:a16="http://schemas.microsoft.com/office/drawing/2014/main" id="{1682B1A3-3D53-4459-AFA9-9A8C94390E13}"/>
              </a:ext>
            </a:extLst>
          </p:cNvPr>
          <p:cNvSpPr>
            <a:spLocks xmlns:a="http://schemas.openxmlformats.org/drawingml/2006/main" noGrp="1"/>
          </p:cNvSpPr>
          <p:nvPr/>
        </p:nvSpPr>
        <p:spPr>
          <a:xfrm xmlns:a="http://schemas.openxmlformats.org/drawingml/2006/main">
            <a:off x="666750" y="4333875"/>
            <a:ext cx="10763250" cy="1371600"/>
          </a:xfrm>
          <a:prstGeom xmlns:a="http://schemas.openxmlformats.org/drawingml/2006/main" prst="rect">
            <a:avLst/>
          </a:prstGeom>
          <a:solidFill xmlns:a="http://schemas.openxmlformats.org/drawingml/2006/main">
            <a:srgbClr val="0E0E12"/>
          </a:solidFill>
          <a:ln xmlns:a="http://schemas.openxmlformats.org/drawingml/2006/main" w="0">
            <a:noFill/>
          </a:ln>
        </p:spPr>
      </p:sp>
      <p:sp>
        <p:nvSpPr>
          <p:cNvPr id="6" name="Brand layout surface">
            <a:extLst xmlns:a="http://schemas.openxmlformats.org/drawingml/2006/main">
              <a:ext uri="{FF2B5EF4-FFF2-40B4-BE49-F238E27FC236}">
                <a16:creationId xmlns:a16="http://schemas.microsoft.com/office/drawing/2014/main" id="{2F22AB55-C6A8-4C65-8CB0-BC582E877B83}"/>
              </a:ext>
            </a:extLst>
          </p:cNvPr>
          <p:cNvSpPr>
            <a:spLocks xmlns:a="http://schemas.openxmlformats.org/drawingml/2006/main" noGrp="1"/>
          </p:cNvSpPr>
          <p:nvPr/>
        </p:nvSpPr>
        <p:spPr>
          <a:xfrm xmlns:a="http://schemas.openxmlformats.org/drawingml/2006/main">
            <a:off x="571500" y="4238625"/>
            <a:ext cx="10763250" cy="1371600"/>
          </a:xfrm>
          <a:prstGeom xmlns:a="http://schemas.openxmlformats.org/drawingml/2006/main" prst="rect">
            <a:avLst/>
          </a:prstGeom>
          <a:solidFill xmlns:a="http://schemas.openxmlformats.org/drawingml/2006/main">
            <a:srgbClr val="FFD23F"/>
          </a:solidFill>
          <a:ln xmlns:a="http://schemas.openxmlformats.org/drawingml/2006/main" w="38100">
            <a:solidFill>
              <a:srgbClr val="0E0E12"/>
            </a:solidFill>
          </a:ln>
        </p:spPr>
      </p:sp>
      <p:sp>
        <p:nvSpPr>
          <p:cNvPr id="7" name="Editable 2-4">
            <a:extLst xmlns:a="http://schemas.openxmlformats.org/drawingml/2006/main">
              <a:ext uri="{FF2B5EF4-FFF2-40B4-BE49-F238E27FC236}">
                <a16:creationId xmlns:a16="http://schemas.microsoft.com/office/drawing/2014/main" id="{9A876ACC-1676-4FA6-A0E6-CD19A4FAF3C3}"/>
              </a:ext>
            </a:extLst>
          </p:cNvPr>
          <p:cNvSpPr>
            <a:spLocks xmlns:a="http://schemas.openxmlformats.org/drawingml/2006/main" noGrp="1"/>
          </p:cNvSpPr>
          <p:nvPr/>
        </p:nvSpPr>
        <p:spPr>
          <a:xfrm xmlns:a="http://schemas.openxmlformats.org/drawingml/2006/main">
            <a:off x="819150" y="4248150"/>
            <a:ext cx="102870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9000" b="0">
                <a:solidFill>
                  <a:srgbClr val="0E0E12"/>
                </a:solidFill>
                <a:latin typeface="Silkscreen"/>
                <a:ea typeface="Silkscreen"/>
                <a:cs typeface="Silkscreen"/>
              </a:defRPr>
            </a:pPr>
            <a:r>
              <a:rPr sz="9000" b="0">
                <a:solidFill>
                  <a:srgbClr val="0E0E12"/>
                </a:solidFill>
                <a:latin typeface="Silkscreen"/>
                <a:ea typeface="Silkscreen"/>
                <a:cs typeface="Silkscreen"/>
              </a:rPr>
              <a:t>left over</a:t>
            </a:r>
          </a:p>
        </p:txBody>
      </p:sp>
      <p:sp>
        <p:nvSpPr>
          <p:cNvPr id="8" name="Editable 2-5">
            <a:extLst xmlns:a="http://schemas.openxmlformats.org/drawingml/2006/main">
              <a:ext uri="{FF2B5EF4-FFF2-40B4-BE49-F238E27FC236}">
                <a16:creationId xmlns:a16="http://schemas.microsoft.com/office/drawing/2014/main" id="{FAFD1415-0F29-481E-AFFB-13525EFFBA65}"/>
              </a:ext>
            </a:extLst>
          </p:cNvPr>
          <p:cNvSpPr>
            <a:spLocks xmlns:a="http://schemas.openxmlformats.org/drawingml/2006/main" noGrp="1"/>
          </p:cNvSpPr>
          <p:nvPr/>
        </p:nvSpPr>
        <p:spPr>
          <a:xfrm xmlns:a="http://schemas.openxmlformats.org/drawingml/2006/main">
            <a:off x="628650" y="6238875"/>
            <a:ext cx="13239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40000"/>
              </a:lnSpc>
              <a:buNone/>
              <a:defRPr sz="3000" b="0">
                <a:solidFill>
                  <a:srgbClr val="F2EBDA"/>
                </a:solidFill>
                <a:latin typeface="JetBrains Mono"/>
                <a:ea typeface="JetBrains Mono"/>
                <a:cs typeface="JetBrains Mono"/>
              </a:defRPr>
            </a:pPr>
            <a:r>
              <a:rPr sz="3000" b="0">
                <a:solidFill>
                  <a:srgbClr val="F2EBDA"/>
                </a:solidFill>
                <a:latin typeface="JetBrains Mono"/>
                <a:ea typeface="JetBrains Mono"/>
                <a:cs typeface="JetBrains Mono"/>
              </a:rPr>
              <a:t>I needed help with the work</a:t>
            </a:r>
          </a:p>
          <a:p xmlns:a="http://schemas.openxmlformats.org/drawingml/2006/main">
            <a:pPr algn="l">
              <a:lnSpc>
                <a:spcPct val="140000"/>
              </a:lnSpc>
              <a:buNone/>
              <a:defRPr sz="3000" b="0">
                <a:solidFill>
                  <a:srgbClr val="F2EBDA"/>
                </a:solidFill>
                <a:latin typeface="JetBrains Mono"/>
                <a:ea typeface="JetBrains Mono"/>
                <a:cs typeface="JetBrains Mono"/>
              </a:defRPr>
            </a:pPr>
            <a:r>
              <a:rPr sz="3000" b="0">
                <a:solidFill>
                  <a:srgbClr val="F2EBDA"/>
                </a:solidFill>
                <a:latin typeface="JetBrains Mono"/>
                <a:ea typeface="JetBrains Mono"/>
                <a:cs typeface="JetBrains Mono"/>
              </a:rPr>
              <a:t>that meetings create.</a:t>
            </a:r>
          </a:p>
        </p:txBody>
      </p:sp>
      <p:sp>
        <p:nvSpPr>
          <p:cNvPr id="9" name="Brand layout surface">
            <a:extLst xmlns:a="http://schemas.openxmlformats.org/drawingml/2006/main">
              <a:ext uri="{FF2B5EF4-FFF2-40B4-BE49-F238E27FC236}">
                <a16:creationId xmlns:a16="http://schemas.microsoft.com/office/drawing/2014/main" id="{A6BAB1C0-E6C9-4026-B99F-98267C6FCF6F}"/>
              </a:ext>
            </a:extLst>
          </p:cNvPr>
          <p:cNvSpPr>
            <a:spLocks xmlns:a="http://schemas.openxmlformats.org/drawingml/2006/main" noGrp="1"/>
          </p:cNvSpPr>
          <p:nvPr/>
        </p:nvSpPr>
        <p:spPr>
          <a:xfrm xmlns:a="http://schemas.openxmlformats.org/drawingml/2006/main">
            <a:off x="571500" y="7772400"/>
            <a:ext cx="14097000" cy="28575"/>
          </a:xfrm>
          <a:prstGeom xmlns:a="http://schemas.openxmlformats.org/drawingml/2006/main" prst="rect">
            <a:avLst/>
          </a:prstGeom>
          <a:solidFill xmlns:a="http://schemas.openxmlformats.org/drawingml/2006/main">
            <a:srgbClr val="F2EBDA"/>
          </a:solidFill>
          <a:ln xmlns:a="http://schemas.openxmlformats.org/drawingml/2006/main" w="0">
            <a:noFill/>
          </a:ln>
        </p:spPr>
      </p:sp>
      <p:sp>
        <p:nvSpPr>
          <p:cNvPr id="10" name="Editable 2-7">
            <a:extLst xmlns:a="http://schemas.openxmlformats.org/drawingml/2006/main">
              <a:ext uri="{FF2B5EF4-FFF2-40B4-BE49-F238E27FC236}">
                <a16:creationId xmlns:a16="http://schemas.microsoft.com/office/drawing/2014/main" id="{CBD14D80-88B2-43A7-AAE2-0E118A6312BC}"/>
              </a:ext>
            </a:extLst>
          </p:cNvPr>
          <p:cNvSpPr>
            <a:spLocks xmlns:a="http://schemas.openxmlformats.org/drawingml/2006/main" noGrp="1"/>
          </p:cNvSpPr>
          <p:nvPr/>
        </p:nvSpPr>
        <p:spPr>
          <a:xfrm xmlns:a="http://schemas.openxmlformats.org/drawingml/2006/main">
            <a:off x="571500" y="7991475"/>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25" b="1">
                <a:solidFill>
                  <a:srgbClr val="F2EBDA"/>
                </a:solidFill>
                <a:latin typeface="Silkscreen"/>
                <a:ea typeface="Silkscreen"/>
                <a:cs typeface="Silkscreen"/>
              </a:defRPr>
            </a:pPr>
            <a:r>
              <a:rPr sz="2025" b="1">
                <a:solidFill>
                  <a:srgbClr val="F2EBDA"/>
                </a:solidFill>
                <a:latin typeface="Silkscreen"/>
                <a:ea typeface="Silkscreen"/>
                <a:cs typeface="Silkscreen"/>
              </a:rPr>
              <a:t>LaghariLabs.io</a:t>
            </a:r>
          </a:p>
        </p:txBody>
      </p:sp>
      <p:sp>
        <p:nvSpPr>
          <p:cNvPr id="11" name="Editable 2-8">
            <a:extLst xmlns:a="http://schemas.openxmlformats.org/drawingml/2006/main">
              <a:ext uri="{FF2B5EF4-FFF2-40B4-BE49-F238E27FC236}">
                <a16:creationId xmlns:a16="http://schemas.microsoft.com/office/drawing/2014/main" id="{457AA8E0-89D5-4C71-B312-EC470D09F719}"/>
              </a:ext>
            </a:extLst>
          </p:cNvPr>
          <p:cNvSpPr>
            <a:spLocks xmlns:a="http://schemas.openxmlformats.org/drawingml/2006/main" noGrp="1"/>
          </p:cNvSpPr>
          <p:nvPr/>
        </p:nvSpPr>
        <p:spPr>
          <a:xfrm xmlns:a="http://schemas.openxmlformats.org/drawingml/2006/main">
            <a:off x="10572750" y="7991475"/>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F2EBDA"/>
                </a:solidFill>
                <a:latin typeface="JetBrains Mono"/>
                <a:ea typeface="JetBrains Mono"/>
                <a:cs typeface="JetBrains Mono"/>
              </a:defRPr>
            </a:pPr>
            <a:r>
              <a:rPr sz="1800" b="0">
                <a:solidFill>
                  <a:srgbClr val="F2EBDA"/>
                </a:solidFill>
                <a:latin typeface="JetBrains Mono"/>
                <a:ea typeface="JetBrains Mono"/>
                <a:cs typeface="JetBrains Mono"/>
              </a:rPr>
              <a:t>@mhlaghari</a:t>
            </a:r>
          </a:p>
        </p:txBody>
      </p:sp>
      <p:sp>
        <p:nvSpPr>
          <p:cNvPr id="12" name="Editable 2-9">
            <a:extLst xmlns:a="http://schemas.openxmlformats.org/drawingml/2006/main">
              <a:ext uri="{FF2B5EF4-FFF2-40B4-BE49-F238E27FC236}">
                <a16:creationId xmlns:a16="http://schemas.microsoft.com/office/drawing/2014/main" id="{11ADE85C-F183-4AEF-802F-6FF0B61F1CAE}"/>
              </a:ext>
            </a:extLst>
          </p:cNvPr>
          <p:cNvSpPr>
            <a:spLocks xmlns:a="http://schemas.openxmlformats.org/drawingml/2006/main" noGrp="1"/>
          </p:cNvSpPr>
          <p:nvPr/>
        </p:nvSpPr>
        <p:spPr>
          <a:xfrm xmlns:a="http://schemas.openxmlformats.org/drawingml/2006/main">
            <a:off x="13192125" y="7991475"/>
            <a:ext cx="1476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800" b="0">
                <a:solidFill>
                  <a:srgbClr val="F2EBDA"/>
                </a:solidFill>
                <a:latin typeface="JetBrains Mono"/>
                <a:ea typeface="JetBrains Mono"/>
                <a:cs typeface="JetBrains Mono"/>
              </a:defRPr>
            </a:pPr>
            <a:r>
              <a:rPr sz="1800" b="0">
                <a:solidFill>
                  <a:srgbClr val="F2EBDA"/>
                </a:solidFill>
                <a:latin typeface="JetBrains Mono"/>
                <a:ea typeface="JetBrains Mono"/>
                <a:cs typeface="JetBrains Mono"/>
              </a:rPr>
              <a:t>03 / 08</a:t>
            </a:r>
          </a:p>
        </p:txBody>
      </p:sp>
    </p:spTree>
    <p:extLst>
      <p:ext uri="{BB962C8B-B14F-4D97-AF65-F5344CB8AC3E}">
        <p14:creationId xmlns:p14="http://schemas.microsoft.com/office/powerpoint/2010/main" val="818111306"/>
      </p:ext>
    </p:extLst>
  </p:cSld>
</p:sld>
</file>

<file path=ppt/slides/slide4.xml><?xml version="1.0" encoding="utf-8"?>
<p:sld xmlns:p="http://schemas.openxmlformats.org/presentationml/2006/main">
  <p:cSld>
    <p:bg>
      <p:bgPr>
        <a:solidFill xmlns:a="http://schemas.openxmlformats.org/drawingml/2006/main">
          <a:srgbClr val="F2EBDA"/>
        </a:solidFill>
      </p:bgPr>
    </p:bg>
    <p:spTree>
      <p:nvGrpSpPr>
        <p:cNvPr id="1" name=""/>
        <p:cNvGrpSpPr/>
        <p:nvPr/>
      </p:nvGrpSpPr>
      <p:grpSpPr>
        <a:xfrm xmlns:a="http://schemas.openxmlformats.org/drawingml/2006/main"/>
      </p:grpSpPr>
      <p:sp>
        <p:nvSpPr>
          <p:cNvPr id="15" name="Brand frame">
            <a:extLst xmlns:a="http://schemas.openxmlformats.org/drawingml/2006/main">
              <a:ext uri="{FF2B5EF4-FFF2-40B4-BE49-F238E27FC236}">
                <a16:creationId xmlns:a16="http://schemas.microsoft.com/office/drawing/2014/main" id="{81DD5D41-9091-4B53-BE99-5597ABB60DA7}"/>
              </a:ext>
            </a:extLst>
          </p:cNvPr>
          <p:cNvSpPr>
            <a:spLocks xmlns:a="http://schemas.openxmlformats.org/drawingml/2006/main" noGrp="1"/>
          </p:cNvSpPr>
          <p:nvPr/>
        </p:nvSpPr>
        <p:spPr>
          <a:xfrm xmlns:a="http://schemas.openxmlformats.org/drawingml/2006/main">
            <a:off x="19050" y="19050"/>
            <a:ext cx="15201900" cy="8534400"/>
          </a:xfrm>
          <a:prstGeom xmlns:a="http://schemas.openxmlformats.org/drawingml/2006/main" prst="rect">
            <a:avLst/>
          </a:prstGeom>
          <a:noFill xmlns:a="http://schemas.openxmlformats.org/drawingml/2006/main"/>
          <a:ln xmlns:a="http://schemas.openxmlformats.org/drawingml/2006/main" w="38100">
            <a:solidFill>
              <a:srgbClr val="0E0E12"/>
            </a:solidFill>
          </a:ln>
        </p:spPr>
      </p:sp>
      <p:sp>
        <p:nvSpPr>
          <p:cNvPr id="2" name="Editable 3-0">
            <a:extLst xmlns:a="http://schemas.openxmlformats.org/drawingml/2006/main">
              <a:ext uri="{FF2B5EF4-FFF2-40B4-BE49-F238E27FC236}">
                <a16:creationId xmlns:a16="http://schemas.microsoft.com/office/drawing/2014/main" id="{3952DEC4-B457-4437-A9DC-45F5110755C6}"/>
              </a:ext>
            </a:extLst>
          </p:cNvPr>
          <p:cNvSpPr>
            <a:spLocks xmlns:a="http://schemas.openxmlformats.org/drawingml/2006/main" noGrp="1"/>
          </p:cNvSpPr>
          <p:nvPr/>
        </p:nvSpPr>
        <p:spPr>
          <a:xfrm xmlns:a="http://schemas.openxmlformats.org/drawingml/2006/main">
            <a:off x="571500" y="495300"/>
            <a:ext cx="1371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1">
                <a:solidFill>
                  <a:srgbClr val="0E0E12"/>
                </a:solidFill>
                <a:latin typeface="JetBrains Mono"/>
                <a:ea typeface="JetBrains Mono"/>
                <a:cs typeface="JetBrains Mono"/>
              </a:defRPr>
            </a:pPr>
            <a:r>
              <a:rPr sz="1800" b="1">
                <a:solidFill>
                  <a:srgbClr val="0E0E12"/>
                </a:solidFill>
                <a:latin typeface="JetBrains Mono"/>
                <a:ea typeface="JetBrains Mono"/>
                <a:cs typeface="JetBrains Mono"/>
              </a:rPr>
              <a:t>THE FOUNDATION</a:t>
            </a:r>
          </a:p>
        </p:txBody>
      </p:sp>
      <p:sp>
        <p:nvSpPr>
          <p:cNvPr id="3" name="Editable 3-1">
            <a:extLst xmlns:a="http://schemas.openxmlformats.org/drawingml/2006/main">
              <a:ext uri="{FF2B5EF4-FFF2-40B4-BE49-F238E27FC236}">
                <a16:creationId xmlns:a16="http://schemas.microsoft.com/office/drawing/2014/main" id="{DB6FCA41-1B29-496C-9850-EA2C1D597A16}"/>
              </a:ext>
            </a:extLst>
          </p:cNvPr>
          <p:cNvSpPr>
            <a:spLocks xmlns:a="http://schemas.openxmlformats.org/drawingml/2006/main" noGrp="1"/>
          </p:cNvSpPr>
          <p:nvPr/>
        </p:nvSpPr>
        <p:spPr>
          <a:xfrm xmlns:a="http://schemas.openxmlformats.org/drawingml/2006/main">
            <a:off x="571500" y="132397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6900" b="0">
                <a:solidFill>
                  <a:srgbClr val="0E0E12"/>
                </a:solidFill>
                <a:latin typeface="Silkscreen"/>
                <a:ea typeface="Silkscreen"/>
                <a:cs typeface="Silkscreen"/>
              </a:defRPr>
            </a:pPr>
            <a:r>
              <a:rPr sz="6900" b="0">
                <a:solidFill>
                  <a:srgbClr val="0E0E12"/>
                </a:solidFill>
                <a:latin typeface="Silkscreen"/>
                <a:ea typeface="Silkscreen"/>
                <a:cs typeface="Silkscreen"/>
              </a:rPr>
              <a:t>Local meeting notes</a:t>
            </a:r>
          </a:p>
        </p:txBody>
      </p:sp>
      <p:sp>
        <p:nvSpPr>
          <p:cNvPr id="4" name="Editable 3-2">
            <a:extLst xmlns:a="http://schemas.openxmlformats.org/drawingml/2006/main">
              <a:ext uri="{FF2B5EF4-FFF2-40B4-BE49-F238E27FC236}">
                <a16:creationId xmlns:a16="http://schemas.microsoft.com/office/drawing/2014/main" id="{05473220-AB2A-4677-A413-2D5DC1F238C6}"/>
              </a:ext>
            </a:extLst>
          </p:cNvPr>
          <p:cNvSpPr>
            <a:spLocks xmlns:a="http://schemas.openxmlformats.org/drawingml/2006/main" noGrp="1"/>
          </p:cNvSpPr>
          <p:nvPr/>
        </p:nvSpPr>
        <p:spPr>
          <a:xfrm xmlns:a="http://schemas.openxmlformats.org/drawingml/2006/main">
            <a:off x="609600" y="2581275"/>
            <a:ext cx="1323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000" b="0">
                <a:solidFill>
                  <a:srgbClr val="0E0E12"/>
                </a:solidFill>
                <a:latin typeface="JetBrains Mono"/>
                <a:ea typeface="JetBrains Mono"/>
                <a:cs typeface="JetBrains Mono"/>
              </a:defRPr>
            </a:pPr>
            <a:r>
              <a:rPr sz="3000" b="0">
                <a:solidFill>
                  <a:srgbClr val="0E0E12"/>
                </a:solidFill>
                <a:latin typeface="JetBrains Mono"/>
                <a:ea typeface="JetBrains Mono"/>
                <a:cs typeface="JetBrains Mono"/>
              </a:rPr>
              <a:t>A memory I can come back to.</a:t>
            </a:r>
          </a:p>
        </p:txBody>
      </p:sp>
      <p:sp>
        <p:nvSpPr>
          <p:cNvPr id="5" name="Pixel offset shadow">
            <a:extLst xmlns:a="http://schemas.openxmlformats.org/drawingml/2006/main">
              <a:ext uri="{FF2B5EF4-FFF2-40B4-BE49-F238E27FC236}">
                <a16:creationId xmlns:a16="http://schemas.microsoft.com/office/drawing/2014/main" id="{5DCDFEE9-FF19-457F-991D-5BDAEAC98BEB}"/>
              </a:ext>
            </a:extLst>
          </p:cNvPr>
          <p:cNvSpPr>
            <a:spLocks xmlns:a="http://schemas.openxmlformats.org/drawingml/2006/main" noGrp="1"/>
          </p:cNvSpPr>
          <p:nvPr/>
        </p:nvSpPr>
        <p:spPr>
          <a:xfrm xmlns:a="http://schemas.openxmlformats.org/drawingml/2006/main">
            <a:off x="666750" y="3810000"/>
            <a:ext cx="14001750" cy="3133725"/>
          </a:xfrm>
          <a:prstGeom xmlns:a="http://schemas.openxmlformats.org/drawingml/2006/main" prst="rect">
            <a:avLst/>
          </a:prstGeom>
          <a:solidFill xmlns:a="http://schemas.openxmlformats.org/drawingml/2006/main">
            <a:srgbClr val="FF4D2E"/>
          </a:solidFill>
          <a:ln xmlns:a="http://schemas.openxmlformats.org/drawingml/2006/main" w="0">
            <a:noFill/>
          </a:ln>
        </p:spPr>
      </p:sp>
      <p:sp>
        <p:nvSpPr>
          <p:cNvPr id="6" name="Brand layout surface">
            <a:extLst xmlns:a="http://schemas.openxmlformats.org/drawingml/2006/main">
              <a:ext uri="{FF2B5EF4-FFF2-40B4-BE49-F238E27FC236}">
                <a16:creationId xmlns:a16="http://schemas.microsoft.com/office/drawing/2014/main" id="{2F8BEC16-0DA2-433E-B81C-52B5C6EB560F}"/>
              </a:ext>
            </a:extLst>
          </p:cNvPr>
          <p:cNvSpPr>
            <a:spLocks xmlns:a="http://schemas.openxmlformats.org/drawingml/2006/main" noGrp="1"/>
          </p:cNvSpPr>
          <p:nvPr/>
        </p:nvSpPr>
        <p:spPr>
          <a:xfrm xmlns:a="http://schemas.openxmlformats.org/drawingml/2006/main">
            <a:off x="571500" y="3714750"/>
            <a:ext cx="14001750" cy="3133725"/>
          </a:xfrm>
          <a:prstGeom xmlns:a="http://schemas.openxmlformats.org/drawingml/2006/main" prst="rect">
            <a:avLst/>
          </a:prstGeom>
          <a:solidFill xmlns:a="http://schemas.openxmlformats.org/drawingml/2006/main">
            <a:srgbClr val="E8DFC6"/>
          </a:solidFill>
          <a:ln xmlns:a="http://schemas.openxmlformats.org/drawingml/2006/main" w="38100">
            <a:solidFill>
              <a:srgbClr val="0E0E12"/>
            </a:solidFill>
          </a:ln>
        </p:spPr>
      </p:sp>
      <p:sp>
        <p:nvSpPr>
          <p:cNvPr id="7" name="Editable 3-4">
            <a:extLst xmlns:a="http://schemas.openxmlformats.org/drawingml/2006/main">
              <a:ext uri="{FF2B5EF4-FFF2-40B4-BE49-F238E27FC236}">
                <a16:creationId xmlns:a16="http://schemas.microsoft.com/office/drawing/2014/main" id="{CBA89F51-7997-4AFE-A3AB-F8CEF65584DE}"/>
              </a:ext>
            </a:extLst>
          </p:cNvPr>
          <p:cNvSpPr>
            <a:spLocks xmlns:a="http://schemas.openxmlformats.org/drawingml/2006/main" noGrp="1"/>
          </p:cNvSpPr>
          <p:nvPr/>
        </p:nvSpPr>
        <p:spPr>
          <a:xfrm xmlns:a="http://schemas.openxmlformats.org/drawingml/2006/main">
            <a:off x="895350" y="4038600"/>
            <a:ext cx="1300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25" b="1">
                <a:solidFill>
                  <a:srgbClr val="0E0E12"/>
                </a:solidFill>
                <a:latin typeface="JetBrains Mono"/>
                <a:ea typeface="JetBrains Mono"/>
                <a:cs typeface="JetBrains Mono"/>
              </a:defRPr>
            </a:pPr>
            <a:r>
              <a:rPr sz="2025" b="1">
                <a:solidFill>
                  <a:srgbClr val="0E0E12"/>
                </a:solidFill>
                <a:latin typeface="JetBrains Mono"/>
                <a:ea typeface="JetBrains Mono"/>
                <a:cs typeface="JetBrains Mono"/>
              </a:rPr>
              <a:t>ON MY MACHINE</a:t>
            </a:r>
          </a:p>
        </p:txBody>
      </p:sp>
      <p:sp>
        <p:nvSpPr>
          <p:cNvPr id="8" name="Editable 3-5">
            <a:extLst xmlns:a="http://schemas.openxmlformats.org/drawingml/2006/main">
              <a:ext uri="{FF2B5EF4-FFF2-40B4-BE49-F238E27FC236}">
                <a16:creationId xmlns:a16="http://schemas.microsoft.com/office/drawing/2014/main" id="{FC4247FF-2296-4656-9617-ECEA8341E855}"/>
              </a:ext>
            </a:extLst>
          </p:cNvPr>
          <p:cNvSpPr>
            <a:spLocks xmlns:a="http://schemas.openxmlformats.org/drawingml/2006/main" noGrp="1"/>
          </p:cNvSpPr>
          <p:nvPr/>
        </p:nvSpPr>
        <p:spPr>
          <a:xfrm xmlns:a="http://schemas.openxmlformats.org/drawingml/2006/main">
            <a:off x="895350" y="4724400"/>
            <a:ext cx="13239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4950" b="0">
                <a:solidFill>
                  <a:srgbClr val="0E0E12"/>
                </a:solidFill>
                <a:latin typeface="Silkscreen"/>
                <a:ea typeface="Silkscreen"/>
                <a:cs typeface="Silkscreen"/>
              </a:defRPr>
            </a:pPr>
            <a:r>
              <a:rPr sz="4950" b="0">
                <a:solidFill>
                  <a:srgbClr val="0E0E12"/>
                </a:solidFill>
                <a:latin typeface="Silkscreen"/>
                <a:ea typeface="Silkscreen"/>
                <a:cs typeface="Silkscreen"/>
              </a:rPr>
              <a:t>Audio. Transcript. Notes.</a:t>
            </a:r>
          </a:p>
        </p:txBody>
      </p:sp>
      <p:sp>
        <p:nvSpPr>
          <p:cNvPr id="9" name="Editable 3-6">
            <a:extLst xmlns:a="http://schemas.openxmlformats.org/drawingml/2006/main">
              <a:ext uri="{FF2B5EF4-FFF2-40B4-BE49-F238E27FC236}">
                <a16:creationId xmlns:a16="http://schemas.microsoft.com/office/drawing/2014/main" id="{384D7472-F5BE-4351-9AD2-E2B82B90C0BB}"/>
              </a:ext>
            </a:extLst>
          </p:cNvPr>
          <p:cNvSpPr>
            <a:spLocks xmlns:a="http://schemas.openxmlformats.org/drawingml/2006/main" noGrp="1"/>
          </p:cNvSpPr>
          <p:nvPr/>
        </p:nvSpPr>
        <p:spPr>
          <a:xfrm xmlns:a="http://schemas.openxmlformats.org/drawingml/2006/main">
            <a:off x="933450" y="5486400"/>
            <a:ext cx="13001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40000"/>
              </a:lnSpc>
              <a:buNone/>
              <a:defRPr sz="2475" b="0">
                <a:solidFill>
                  <a:srgbClr val="0E0E12"/>
                </a:solidFill>
                <a:latin typeface="JetBrains Mono"/>
                <a:ea typeface="JetBrains Mono"/>
                <a:cs typeface="JetBrains Mono"/>
              </a:defRPr>
            </a:pPr>
            <a:r>
              <a:rPr sz="2475" b="0">
                <a:solidFill>
                  <a:srgbClr val="0E0E12"/>
                </a:solidFill>
                <a:latin typeface="JetBrains Mono"/>
                <a:ea typeface="JetBrains Mono"/>
                <a:cs typeface="JetBrains Mono"/>
              </a:rPr>
              <a:t>Capture the discussion and keep its context</a:t>
            </a:r>
          </a:p>
          <a:p xmlns:a="http://schemas.openxmlformats.org/drawingml/2006/main">
            <a:pPr algn="l">
              <a:lnSpc>
                <a:spcPct val="140000"/>
              </a:lnSpc>
              <a:buNone/>
              <a:defRPr sz="2475" b="0">
                <a:solidFill>
                  <a:srgbClr val="0E0E12"/>
                </a:solidFill>
                <a:latin typeface="JetBrains Mono"/>
                <a:ea typeface="JetBrains Mono"/>
                <a:cs typeface="JetBrains Mono"/>
              </a:defRPr>
            </a:pPr>
            <a:r>
              <a:rPr sz="2475" b="0">
                <a:solidFill>
                  <a:srgbClr val="0E0E12"/>
                </a:solidFill>
                <a:latin typeface="JetBrains Mono"/>
                <a:ea typeface="JetBrains Mono"/>
                <a:cs typeface="JetBrains Mono"/>
              </a:rPr>
              <a:t>with the work that follows.</a:t>
            </a:r>
          </a:p>
        </p:txBody>
      </p:sp>
      <p:sp>
        <p:nvSpPr>
          <p:cNvPr id="10" name="Editable 3-7">
            <a:extLst xmlns:a="http://schemas.openxmlformats.org/drawingml/2006/main">
              <a:ext uri="{FF2B5EF4-FFF2-40B4-BE49-F238E27FC236}">
                <a16:creationId xmlns:a16="http://schemas.microsoft.com/office/drawing/2014/main" id="{A9ED45F5-490E-425C-BF62-FAA2ECFC4668}"/>
              </a:ext>
            </a:extLst>
          </p:cNvPr>
          <p:cNvSpPr>
            <a:spLocks xmlns:a="http://schemas.openxmlformats.org/drawingml/2006/main" noGrp="1"/>
          </p:cNvSpPr>
          <p:nvPr/>
        </p:nvSpPr>
        <p:spPr>
          <a:xfrm xmlns:a="http://schemas.openxmlformats.org/drawingml/2006/main">
            <a:off x="609600" y="7162800"/>
            <a:ext cx="1371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50" b="0">
                <a:solidFill>
                  <a:srgbClr val="6B6470"/>
                </a:solidFill>
                <a:latin typeface="JetBrains Mono"/>
                <a:ea typeface="JetBrains Mono"/>
                <a:cs typeface="JetBrains Mono"/>
              </a:defRPr>
            </a:pPr>
            <a:r>
              <a:rPr sz="1950" b="0">
                <a:solidFill>
                  <a:srgbClr val="6B6470"/>
                </a:solidFill>
                <a:latin typeface="JetBrains Mono"/>
                <a:ea typeface="JetBrains Mono"/>
                <a:cs typeface="JetBrains Mono"/>
              </a:rPr>
              <a:t>Desktop local mode runs on-device. Cloud features are optional.</a:t>
            </a:r>
          </a:p>
        </p:txBody>
      </p:sp>
      <p:sp>
        <p:nvSpPr>
          <p:cNvPr id="11" name="Brand layout surface">
            <a:extLst xmlns:a="http://schemas.openxmlformats.org/drawingml/2006/main">
              <a:ext uri="{FF2B5EF4-FFF2-40B4-BE49-F238E27FC236}">
                <a16:creationId xmlns:a16="http://schemas.microsoft.com/office/drawing/2014/main" id="{226E0B34-69BA-45F3-A21D-C4DC58F357B8}"/>
              </a:ext>
            </a:extLst>
          </p:cNvPr>
          <p:cNvSpPr>
            <a:spLocks xmlns:a="http://schemas.openxmlformats.org/drawingml/2006/main" noGrp="1"/>
          </p:cNvSpPr>
          <p:nvPr/>
        </p:nvSpPr>
        <p:spPr>
          <a:xfrm xmlns:a="http://schemas.openxmlformats.org/drawingml/2006/main">
            <a:off x="571500" y="7772400"/>
            <a:ext cx="14097000" cy="28575"/>
          </a:xfrm>
          <a:prstGeom xmlns:a="http://schemas.openxmlformats.org/drawingml/2006/main" prst="rect">
            <a:avLst/>
          </a:prstGeom>
          <a:solidFill xmlns:a="http://schemas.openxmlformats.org/drawingml/2006/main">
            <a:srgbClr val="0E0E12"/>
          </a:solidFill>
          <a:ln xmlns:a="http://schemas.openxmlformats.org/drawingml/2006/main" w="0">
            <a:noFill/>
          </a:ln>
        </p:spPr>
      </p:sp>
      <p:sp>
        <p:nvSpPr>
          <p:cNvPr id="12" name="Editable 3-9">
            <a:extLst xmlns:a="http://schemas.openxmlformats.org/drawingml/2006/main">
              <a:ext uri="{FF2B5EF4-FFF2-40B4-BE49-F238E27FC236}">
                <a16:creationId xmlns:a16="http://schemas.microsoft.com/office/drawing/2014/main" id="{D69E7B0A-8686-433C-8918-6C5ED1917CCF}"/>
              </a:ext>
            </a:extLst>
          </p:cNvPr>
          <p:cNvSpPr>
            <a:spLocks xmlns:a="http://schemas.openxmlformats.org/drawingml/2006/main" noGrp="1"/>
          </p:cNvSpPr>
          <p:nvPr/>
        </p:nvSpPr>
        <p:spPr>
          <a:xfrm xmlns:a="http://schemas.openxmlformats.org/drawingml/2006/main">
            <a:off x="571500" y="7991475"/>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25" b="1">
                <a:solidFill>
                  <a:srgbClr val="0E0E12"/>
                </a:solidFill>
                <a:latin typeface="Silkscreen"/>
                <a:ea typeface="Silkscreen"/>
                <a:cs typeface="Silkscreen"/>
              </a:defRPr>
            </a:pPr>
            <a:r>
              <a:rPr sz="2025" b="1">
                <a:solidFill>
                  <a:srgbClr val="0E0E12"/>
                </a:solidFill>
                <a:latin typeface="Silkscreen"/>
                <a:ea typeface="Silkscreen"/>
                <a:cs typeface="Silkscreen"/>
              </a:rPr>
              <a:t>LaghariLabs.io</a:t>
            </a:r>
          </a:p>
        </p:txBody>
      </p:sp>
      <p:sp>
        <p:nvSpPr>
          <p:cNvPr id="13" name="Editable 3-10">
            <a:extLst xmlns:a="http://schemas.openxmlformats.org/drawingml/2006/main">
              <a:ext uri="{FF2B5EF4-FFF2-40B4-BE49-F238E27FC236}">
                <a16:creationId xmlns:a16="http://schemas.microsoft.com/office/drawing/2014/main" id="{1A8B058E-B245-4739-8E04-42C23C4488DA}"/>
              </a:ext>
            </a:extLst>
          </p:cNvPr>
          <p:cNvSpPr>
            <a:spLocks xmlns:a="http://schemas.openxmlformats.org/drawingml/2006/main" noGrp="1"/>
          </p:cNvSpPr>
          <p:nvPr/>
        </p:nvSpPr>
        <p:spPr>
          <a:xfrm xmlns:a="http://schemas.openxmlformats.org/drawingml/2006/main">
            <a:off x="10572750" y="7991475"/>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0E0E12"/>
                </a:solidFill>
                <a:latin typeface="JetBrains Mono"/>
                <a:ea typeface="JetBrains Mono"/>
                <a:cs typeface="JetBrains Mono"/>
              </a:defRPr>
            </a:pPr>
            <a:r>
              <a:rPr sz="1800" b="0">
                <a:solidFill>
                  <a:srgbClr val="0E0E12"/>
                </a:solidFill>
                <a:latin typeface="JetBrains Mono"/>
                <a:ea typeface="JetBrains Mono"/>
                <a:cs typeface="JetBrains Mono"/>
              </a:rPr>
              <a:t>@mhlaghari</a:t>
            </a:r>
          </a:p>
        </p:txBody>
      </p:sp>
      <p:sp>
        <p:nvSpPr>
          <p:cNvPr id="14" name="Editable 3-11">
            <a:extLst xmlns:a="http://schemas.openxmlformats.org/drawingml/2006/main">
              <a:ext uri="{FF2B5EF4-FFF2-40B4-BE49-F238E27FC236}">
                <a16:creationId xmlns:a16="http://schemas.microsoft.com/office/drawing/2014/main" id="{B947E8C3-2AA5-4097-920E-0A81DED2AA63}"/>
              </a:ext>
            </a:extLst>
          </p:cNvPr>
          <p:cNvSpPr>
            <a:spLocks xmlns:a="http://schemas.openxmlformats.org/drawingml/2006/main" noGrp="1"/>
          </p:cNvSpPr>
          <p:nvPr/>
        </p:nvSpPr>
        <p:spPr>
          <a:xfrm xmlns:a="http://schemas.openxmlformats.org/drawingml/2006/main">
            <a:off x="13192125" y="7991475"/>
            <a:ext cx="1476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800" b="0">
                <a:solidFill>
                  <a:srgbClr val="0E0E12"/>
                </a:solidFill>
                <a:latin typeface="JetBrains Mono"/>
                <a:ea typeface="JetBrains Mono"/>
                <a:cs typeface="JetBrains Mono"/>
              </a:defRPr>
            </a:pPr>
            <a:r>
              <a:rPr sz="1800" b="0">
                <a:solidFill>
                  <a:srgbClr val="0E0E12"/>
                </a:solidFill>
                <a:latin typeface="JetBrains Mono"/>
                <a:ea typeface="JetBrains Mono"/>
                <a:cs typeface="JetBrains Mono"/>
              </a:rPr>
              <a:t>04 / 08</a:t>
            </a:r>
          </a:p>
        </p:txBody>
      </p:sp>
    </p:spTree>
    <p:extLst>
      <p:ext uri="{BB962C8B-B14F-4D97-AF65-F5344CB8AC3E}">
        <p14:creationId xmlns:p14="http://schemas.microsoft.com/office/powerpoint/2010/main" val="696320928"/>
      </p:ext>
    </p:extLst>
  </p:cSld>
</p:sld>
</file>

<file path=ppt/slides/slide5.xml><?xml version="1.0" encoding="utf-8"?>
<p:sld xmlns:p="http://schemas.openxmlformats.org/presentationml/2006/main">
  <p:cSld>
    <p:bg>
      <p:bgPr>
        <a:solidFill xmlns:a="http://schemas.openxmlformats.org/drawingml/2006/main">
          <a:srgbClr val="F2EBDA"/>
        </a:solidFill>
      </p:bgPr>
    </p:bg>
    <p:spTree>
      <p:nvGrpSpPr>
        <p:cNvPr id="1" name=""/>
        <p:cNvGrpSpPr/>
        <p:nvPr/>
      </p:nvGrpSpPr>
      <p:grpSpPr>
        <a:xfrm xmlns:a="http://schemas.openxmlformats.org/drawingml/2006/main"/>
      </p:grpSpPr>
      <p:sp>
        <p:nvSpPr>
          <p:cNvPr id="17" name="Brand frame">
            <a:extLst xmlns:a="http://schemas.openxmlformats.org/drawingml/2006/main">
              <a:ext uri="{FF2B5EF4-FFF2-40B4-BE49-F238E27FC236}">
                <a16:creationId xmlns:a16="http://schemas.microsoft.com/office/drawing/2014/main" id="{A91820EC-8C2D-41C2-808D-590CFB11B7E8}"/>
              </a:ext>
            </a:extLst>
          </p:cNvPr>
          <p:cNvSpPr>
            <a:spLocks xmlns:a="http://schemas.openxmlformats.org/drawingml/2006/main" noGrp="1"/>
          </p:cNvSpPr>
          <p:nvPr/>
        </p:nvSpPr>
        <p:spPr>
          <a:xfrm xmlns:a="http://schemas.openxmlformats.org/drawingml/2006/main">
            <a:off x="19050" y="19050"/>
            <a:ext cx="15201900" cy="8534400"/>
          </a:xfrm>
          <a:prstGeom xmlns:a="http://schemas.openxmlformats.org/drawingml/2006/main" prst="rect">
            <a:avLst/>
          </a:prstGeom>
          <a:noFill xmlns:a="http://schemas.openxmlformats.org/drawingml/2006/main"/>
          <a:ln xmlns:a="http://schemas.openxmlformats.org/drawingml/2006/main" w="38100">
            <a:solidFill>
              <a:srgbClr val="0E0E12"/>
            </a:solidFill>
          </a:ln>
        </p:spPr>
      </p:sp>
      <p:sp>
        <p:nvSpPr>
          <p:cNvPr id="2" name="Editable 4-0">
            <a:extLst xmlns:a="http://schemas.openxmlformats.org/drawingml/2006/main">
              <a:ext uri="{FF2B5EF4-FFF2-40B4-BE49-F238E27FC236}">
                <a16:creationId xmlns:a16="http://schemas.microsoft.com/office/drawing/2014/main" id="{B8434B2A-416B-436C-9B6F-AD88275E87B1}"/>
              </a:ext>
            </a:extLst>
          </p:cNvPr>
          <p:cNvSpPr>
            <a:spLocks xmlns:a="http://schemas.openxmlformats.org/drawingml/2006/main" noGrp="1"/>
          </p:cNvSpPr>
          <p:nvPr/>
        </p:nvSpPr>
        <p:spPr>
          <a:xfrm xmlns:a="http://schemas.openxmlformats.org/drawingml/2006/main">
            <a:off x="571500" y="495300"/>
            <a:ext cx="1371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1">
                <a:solidFill>
                  <a:srgbClr val="0E0E12"/>
                </a:solidFill>
                <a:latin typeface="JetBrains Mono"/>
                <a:ea typeface="JetBrains Mono"/>
                <a:cs typeface="JetBrains Mono"/>
              </a:defRPr>
            </a:pPr>
            <a:r>
              <a:rPr sz="1800" b="1">
                <a:solidFill>
                  <a:srgbClr val="0E0E12"/>
                </a:solidFill>
                <a:latin typeface="JetBrains Mono"/>
                <a:ea typeface="JetBrains Mono"/>
                <a:cs typeface="JetBrains Mono"/>
              </a:rPr>
              <a:t>COPILOT</a:t>
            </a:r>
          </a:p>
        </p:txBody>
      </p:sp>
      <p:sp>
        <p:nvSpPr>
          <p:cNvPr id="3" name="Editable 4-1">
            <a:extLst xmlns:a="http://schemas.openxmlformats.org/drawingml/2006/main">
              <a:ext uri="{FF2B5EF4-FFF2-40B4-BE49-F238E27FC236}">
                <a16:creationId xmlns:a16="http://schemas.microsoft.com/office/drawing/2014/main" id="{CA4F1DBF-9C09-4CAB-B101-96A12979C406}"/>
              </a:ext>
            </a:extLst>
          </p:cNvPr>
          <p:cNvSpPr>
            <a:spLocks xmlns:a="http://schemas.openxmlformats.org/drawingml/2006/main" noGrp="1"/>
          </p:cNvSpPr>
          <p:nvPr/>
        </p:nvSpPr>
        <p:spPr>
          <a:xfrm xmlns:a="http://schemas.openxmlformats.org/drawingml/2006/main">
            <a:off x="571500" y="1304925"/>
            <a:ext cx="13906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7800" b="0">
                <a:solidFill>
                  <a:srgbClr val="0E0E12"/>
                </a:solidFill>
                <a:latin typeface="Silkscreen"/>
                <a:ea typeface="Silkscreen"/>
                <a:cs typeface="Silkscreen"/>
              </a:defRPr>
            </a:pPr>
            <a:r>
              <a:rPr sz="7800" b="0">
                <a:solidFill>
                  <a:srgbClr val="0E0E12"/>
                </a:solidFill>
                <a:latin typeface="Silkscreen"/>
                <a:ea typeface="Silkscreen"/>
                <a:cs typeface="Silkscreen"/>
              </a:rPr>
              <a:t>Help while I’m</a:t>
            </a:r>
          </a:p>
        </p:txBody>
      </p:sp>
      <p:sp>
        <p:nvSpPr>
          <p:cNvPr id="4" name="Editable 4-2">
            <a:extLst xmlns:a="http://schemas.openxmlformats.org/drawingml/2006/main">
              <a:ext uri="{FF2B5EF4-FFF2-40B4-BE49-F238E27FC236}">
                <a16:creationId xmlns:a16="http://schemas.microsoft.com/office/drawing/2014/main" id="{5ACF7CD6-E28E-498F-B6D0-F7DB3CE4B36F}"/>
              </a:ext>
            </a:extLst>
          </p:cNvPr>
          <p:cNvSpPr>
            <a:spLocks xmlns:a="http://schemas.openxmlformats.org/drawingml/2006/main" noGrp="1"/>
          </p:cNvSpPr>
          <p:nvPr/>
        </p:nvSpPr>
        <p:spPr>
          <a:xfrm xmlns:a="http://schemas.openxmlformats.org/drawingml/2006/main">
            <a:off x="571500" y="2352675"/>
            <a:ext cx="13906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7800" b="0">
                <a:solidFill>
                  <a:srgbClr val="0E0E12"/>
                </a:solidFill>
                <a:latin typeface="Silkscreen"/>
                <a:ea typeface="Silkscreen"/>
                <a:cs typeface="Silkscreen"/>
              </a:defRPr>
            </a:pPr>
            <a:r>
              <a:rPr sz="7800" b="0">
                <a:solidFill>
                  <a:srgbClr val="0E0E12"/>
                </a:solidFill>
                <a:latin typeface="Silkscreen"/>
                <a:ea typeface="Silkscreen"/>
                <a:cs typeface="Silkscreen"/>
              </a:rPr>
              <a:t>in the room</a:t>
            </a:r>
          </a:p>
        </p:txBody>
      </p:sp>
      <p:sp>
        <p:nvSpPr>
          <p:cNvPr id="5" name="Pixel offset shadow">
            <a:extLst xmlns:a="http://schemas.openxmlformats.org/drawingml/2006/main">
              <a:ext uri="{FF2B5EF4-FFF2-40B4-BE49-F238E27FC236}">
                <a16:creationId xmlns:a16="http://schemas.microsoft.com/office/drawing/2014/main" id="{D020FA75-308C-4EB4-BA00-1477C5D00452}"/>
              </a:ext>
            </a:extLst>
          </p:cNvPr>
          <p:cNvSpPr>
            <a:spLocks xmlns:a="http://schemas.openxmlformats.org/drawingml/2006/main" noGrp="1"/>
          </p:cNvSpPr>
          <p:nvPr/>
        </p:nvSpPr>
        <p:spPr>
          <a:xfrm xmlns:a="http://schemas.openxmlformats.org/drawingml/2006/main">
            <a:off x="666750" y="4124325"/>
            <a:ext cx="14001750" cy="1381125"/>
          </a:xfrm>
          <a:prstGeom xmlns:a="http://schemas.openxmlformats.org/drawingml/2006/main" prst="rect">
            <a:avLst/>
          </a:prstGeom>
          <a:solidFill xmlns:a="http://schemas.openxmlformats.org/drawingml/2006/main">
            <a:srgbClr val="0E0E12"/>
          </a:solidFill>
          <a:ln xmlns:a="http://schemas.openxmlformats.org/drawingml/2006/main" w="0">
            <a:noFill/>
          </a:ln>
        </p:spPr>
      </p:sp>
      <p:sp>
        <p:nvSpPr>
          <p:cNvPr id="6" name="Brand layout surface">
            <a:extLst xmlns:a="http://schemas.openxmlformats.org/drawingml/2006/main">
              <a:ext uri="{FF2B5EF4-FFF2-40B4-BE49-F238E27FC236}">
                <a16:creationId xmlns:a16="http://schemas.microsoft.com/office/drawing/2014/main" id="{B2EDF0A2-9999-4D71-AF51-6AFE191F3D6D}"/>
              </a:ext>
            </a:extLst>
          </p:cNvPr>
          <p:cNvSpPr>
            <a:spLocks xmlns:a="http://schemas.openxmlformats.org/drawingml/2006/main" noGrp="1"/>
          </p:cNvSpPr>
          <p:nvPr/>
        </p:nvSpPr>
        <p:spPr>
          <a:xfrm xmlns:a="http://schemas.openxmlformats.org/drawingml/2006/main">
            <a:off x="571500" y="4029075"/>
            <a:ext cx="14001750" cy="1381125"/>
          </a:xfrm>
          <a:prstGeom xmlns:a="http://schemas.openxmlformats.org/drawingml/2006/main" prst="rect">
            <a:avLst/>
          </a:prstGeom>
          <a:solidFill xmlns:a="http://schemas.openxmlformats.org/drawingml/2006/main">
            <a:srgbClr val="FFD23F"/>
          </a:solidFill>
          <a:ln xmlns:a="http://schemas.openxmlformats.org/drawingml/2006/main" w="28575">
            <a:solidFill>
              <a:srgbClr val="0E0E12"/>
            </a:solidFill>
          </a:ln>
        </p:spPr>
      </p:sp>
      <p:sp>
        <p:nvSpPr>
          <p:cNvPr id="7" name="Editable 4-4">
            <a:extLst xmlns:a="http://schemas.openxmlformats.org/drawingml/2006/main">
              <a:ext uri="{FF2B5EF4-FFF2-40B4-BE49-F238E27FC236}">
                <a16:creationId xmlns:a16="http://schemas.microsoft.com/office/drawing/2014/main" id="{CEFF80E4-A314-4E01-988E-42C964D97A76}"/>
              </a:ext>
            </a:extLst>
          </p:cNvPr>
          <p:cNvSpPr>
            <a:spLocks xmlns:a="http://schemas.openxmlformats.org/drawingml/2006/main" noGrp="1"/>
          </p:cNvSpPr>
          <p:nvPr/>
        </p:nvSpPr>
        <p:spPr>
          <a:xfrm xmlns:a="http://schemas.openxmlformats.org/drawingml/2006/main">
            <a:off x="866775" y="4257675"/>
            <a:ext cx="1343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4050" b="0">
                <a:solidFill>
                  <a:srgbClr val="0E0E12"/>
                </a:solidFill>
                <a:latin typeface="Silkscreen"/>
                <a:ea typeface="Silkscreen"/>
                <a:cs typeface="Silkscreen"/>
              </a:defRPr>
            </a:pPr>
            <a:r>
              <a:rPr sz="4050" b="0">
                <a:solidFill>
                  <a:srgbClr val="0E0E12"/>
                </a:solidFill>
                <a:latin typeface="Silkscreen"/>
                <a:ea typeface="Silkscreen"/>
                <a:cs typeface="Silkscreen"/>
              </a:rPr>
              <a:t>What to say next</a:t>
            </a:r>
          </a:p>
        </p:txBody>
      </p:sp>
      <p:sp>
        <p:nvSpPr>
          <p:cNvPr id="8" name="Editable 4-5">
            <a:extLst xmlns:a="http://schemas.openxmlformats.org/drawingml/2006/main">
              <a:ext uri="{FF2B5EF4-FFF2-40B4-BE49-F238E27FC236}">
                <a16:creationId xmlns:a16="http://schemas.microsoft.com/office/drawing/2014/main" id="{A42B2186-9412-4C92-9563-4E07E3B20218}"/>
              </a:ext>
            </a:extLst>
          </p:cNvPr>
          <p:cNvSpPr>
            <a:spLocks xmlns:a="http://schemas.openxmlformats.org/drawingml/2006/main" noGrp="1"/>
          </p:cNvSpPr>
          <p:nvPr/>
        </p:nvSpPr>
        <p:spPr>
          <a:xfrm xmlns:a="http://schemas.openxmlformats.org/drawingml/2006/main">
            <a:off x="895350" y="4895850"/>
            <a:ext cx="1323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75" b="0">
                <a:solidFill>
                  <a:srgbClr val="0E0E12"/>
                </a:solidFill>
                <a:latin typeface="JetBrains Mono"/>
                <a:ea typeface="JetBrains Mono"/>
                <a:cs typeface="JetBrains Mono"/>
              </a:defRPr>
            </a:pPr>
            <a:r>
              <a:rPr sz="2175" b="0">
                <a:solidFill>
                  <a:srgbClr val="0E0E12"/>
                </a:solidFill>
                <a:latin typeface="JetBrains Mono"/>
                <a:ea typeface="JetBrains Mono"/>
                <a:cs typeface="JetBrains Mono"/>
              </a:rPr>
              <a:t>Relevant context and suggestions for what to say.</a:t>
            </a:r>
          </a:p>
        </p:txBody>
      </p:sp>
      <p:sp>
        <p:nvSpPr>
          <p:cNvPr id="9" name="Pixel offset shadow">
            <a:extLst xmlns:a="http://schemas.openxmlformats.org/drawingml/2006/main">
              <a:ext uri="{FF2B5EF4-FFF2-40B4-BE49-F238E27FC236}">
                <a16:creationId xmlns:a16="http://schemas.microsoft.com/office/drawing/2014/main" id="{60AE50A2-526C-4CE3-B69B-4B5F83D54AC4}"/>
              </a:ext>
            </a:extLst>
          </p:cNvPr>
          <p:cNvSpPr>
            <a:spLocks xmlns:a="http://schemas.openxmlformats.org/drawingml/2006/main" noGrp="1"/>
          </p:cNvSpPr>
          <p:nvPr/>
        </p:nvSpPr>
        <p:spPr>
          <a:xfrm xmlns:a="http://schemas.openxmlformats.org/drawingml/2006/main">
            <a:off x="666750" y="5857875"/>
            <a:ext cx="14001750" cy="1381125"/>
          </a:xfrm>
          <a:prstGeom xmlns:a="http://schemas.openxmlformats.org/drawingml/2006/main" prst="rect">
            <a:avLst/>
          </a:prstGeom>
          <a:solidFill xmlns:a="http://schemas.openxmlformats.org/drawingml/2006/main">
            <a:srgbClr val="0E0E12"/>
          </a:solidFill>
          <a:ln xmlns:a="http://schemas.openxmlformats.org/drawingml/2006/main" w="0">
            <a:noFill/>
          </a:ln>
        </p:spPr>
      </p:sp>
      <p:sp>
        <p:nvSpPr>
          <p:cNvPr id="10" name="Brand layout surface">
            <a:extLst xmlns:a="http://schemas.openxmlformats.org/drawingml/2006/main">
              <a:ext uri="{FF2B5EF4-FFF2-40B4-BE49-F238E27FC236}">
                <a16:creationId xmlns:a16="http://schemas.microsoft.com/office/drawing/2014/main" id="{256E208E-9ED9-4D19-A6E0-8B75B862326B}"/>
              </a:ext>
            </a:extLst>
          </p:cNvPr>
          <p:cNvSpPr>
            <a:spLocks xmlns:a="http://schemas.openxmlformats.org/drawingml/2006/main" noGrp="1"/>
          </p:cNvSpPr>
          <p:nvPr/>
        </p:nvSpPr>
        <p:spPr>
          <a:xfrm xmlns:a="http://schemas.openxmlformats.org/drawingml/2006/main">
            <a:off x="571500" y="5762625"/>
            <a:ext cx="14001750" cy="1381125"/>
          </a:xfrm>
          <a:prstGeom xmlns:a="http://schemas.openxmlformats.org/drawingml/2006/main" prst="rect">
            <a:avLst/>
          </a:prstGeom>
          <a:solidFill xmlns:a="http://schemas.openxmlformats.org/drawingml/2006/main">
            <a:srgbClr val="06D6A0"/>
          </a:solidFill>
          <a:ln xmlns:a="http://schemas.openxmlformats.org/drawingml/2006/main" w="28575">
            <a:solidFill>
              <a:srgbClr val="0E0E12"/>
            </a:solidFill>
          </a:ln>
        </p:spPr>
      </p:sp>
      <p:sp>
        <p:nvSpPr>
          <p:cNvPr id="11" name="Editable 4-7">
            <a:extLst xmlns:a="http://schemas.openxmlformats.org/drawingml/2006/main">
              <a:ext uri="{FF2B5EF4-FFF2-40B4-BE49-F238E27FC236}">
                <a16:creationId xmlns:a16="http://schemas.microsoft.com/office/drawing/2014/main" id="{7B69DB93-C3C8-4467-941E-1FD2799FD467}"/>
              </a:ext>
            </a:extLst>
          </p:cNvPr>
          <p:cNvSpPr>
            <a:spLocks xmlns:a="http://schemas.openxmlformats.org/drawingml/2006/main" noGrp="1"/>
          </p:cNvSpPr>
          <p:nvPr/>
        </p:nvSpPr>
        <p:spPr>
          <a:xfrm xmlns:a="http://schemas.openxmlformats.org/drawingml/2006/main">
            <a:off x="866775" y="5991225"/>
            <a:ext cx="1343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4050" b="0">
                <a:solidFill>
                  <a:srgbClr val="0E0E12"/>
                </a:solidFill>
                <a:latin typeface="Silkscreen"/>
                <a:ea typeface="Silkscreen"/>
                <a:cs typeface="Silkscreen"/>
              </a:defRPr>
            </a:pPr>
            <a:r>
              <a:rPr sz="4050" b="0">
                <a:solidFill>
                  <a:srgbClr val="0E0E12"/>
                </a:solidFill>
                <a:latin typeface="Silkscreen"/>
                <a:ea typeface="Silkscreen"/>
                <a:cs typeface="Silkscreen"/>
              </a:rPr>
              <a:t>A commitment I can act on</a:t>
            </a:r>
          </a:p>
        </p:txBody>
      </p:sp>
      <p:sp>
        <p:nvSpPr>
          <p:cNvPr id="12" name="Editable 4-8">
            <a:extLst xmlns:a="http://schemas.openxmlformats.org/drawingml/2006/main">
              <a:ext uri="{FF2B5EF4-FFF2-40B4-BE49-F238E27FC236}">
                <a16:creationId xmlns:a16="http://schemas.microsoft.com/office/drawing/2014/main" id="{429DDA5B-E60D-4356-BC79-25031AE1E59B}"/>
              </a:ext>
            </a:extLst>
          </p:cNvPr>
          <p:cNvSpPr>
            <a:spLocks xmlns:a="http://schemas.openxmlformats.org/drawingml/2006/main" noGrp="1"/>
          </p:cNvSpPr>
          <p:nvPr/>
        </p:nvSpPr>
        <p:spPr>
          <a:xfrm xmlns:a="http://schemas.openxmlformats.org/drawingml/2006/main">
            <a:off x="895350" y="6629400"/>
            <a:ext cx="1323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75" b="0">
                <a:solidFill>
                  <a:srgbClr val="0E0E12"/>
                </a:solidFill>
                <a:latin typeface="JetBrains Mono"/>
                <a:ea typeface="JetBrains Mono"/>
                <a:cs typeface="JetBrains Mono"/>
              </a:defRPr>
            </a:pPr>
            <a:r>
              <a:rPr sz="2175" b="0">
                <a:solidFill>
                  <a:srgbClr val="0E0E12"/>
                </a:solidFill>
                <a:latin typeface="JetBrains Mono"/>
                <a:ea typeface="JetBrains Mono"/>
                <a:cs typeface="JetBrains Mono"/>
              </a:rPr>
              <a:t>Surface the follow-up so I can review it.</a:t>
            </a:r>
          </a:p>
        </p:txBody>
      </p:sp>
      <p:sp>
        <p:nvSpPr>
          <p:cNvPr id="13" name="Brand layout surface">
            <a:extLst xmlns:a="http://schemas.openxmlformats.org/drawingml/2006/main">
              <a:ext uri="{FF2B5EF4-FFF2-40B4-BE49-F238E27FC236}">
                <a16:creationId xmlns:a16="http://schemas.microsoft.com/office/drawing/2014/main" id="{089FD888-7897-4EE3-B208-792A2AB753C5}"/>
              </a:ext>
            </a:extLst>
          </p:cNvPr>
          <p:cNvSpPr>
            <a:spLocks xmlns:a="http://schemas.openxmlformats.org/drawingml/2006/main" noGrp="1"/>
          </p:cNvSpPr>
          <p:nvPr/>
        </p:nvSpPr>
        <p:spPr>
          <a:xfrm xmlns:a="http://schemas.openxmlformats.org/drawingml/2006/main">
            <a:off x="571500" y="7772400"/>
            <a:ext cx="14097000" cy="28575"/>
          </a:xfrm>
          <a:prstGeom xmlns:a="http://schemas.openxmlformats.org/drawingml/2006/main" prst="rect">
            <a:avLst/>
          </a:prstGeom>
          <a:solidFill xmlns:a="http://schemas.openxmlformats.org/drawingml/2006/main">
            <a:srgbClr val="0E0E12"/>
          </a:solidFill>
          <a:ln xmlns:a="http://schemas.openxmlformats.org/drawingml/2006/main" w="0">
            <a:noFill/>
          </a:ln>
        </p:spPr>
      </p:sp>
      <p:sp>
        <p:nvSpPr>
          <p:cNvPr id="14" name="Editable 4-10">
            <a:extLst xmlns:a="http://schemas.openxmlformats.org/drawingml/2006/main">
              <a:ext uri="{FF2B5EF4-FFF2-40B4-BE49-F238E27FC236}">
                <a16:creationId xmlns:a16="http://schemas.microsoft.com/office/drawing/2014/main" id="{BB2346A4-C371-4199-A519-C3442D0D0DAE}"/>
              </a:ext>
            </a:extLst>
          </p:cNvPr>
          <p:cNvSpPr>
            <a:spLocks xmlns:a="http://schemas.openxmlformats.org/drawingml/2006/main" noGrp="1"/>
          </p:cNvSpPr>
          <p:nvPr/>
        </p:nvSpPr>
        <p:spPr>
          <a:xfrm xmlns:a="http://schemas.openxmlformats.org/drawingml/2006/main">
            <a:off x="571500" y="7991475"/>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25" b="1">
                <a:solidFill>
                  <a:srgbClr val="0E0E12"/>
                </a:solidFill>
                <a:latin typeface="Silkscreen"/>
                <a:ea typeface="Silkscreen"/>
                <a:cs typeface="Silkscreen"/>
              </a:defRPr>
            </a:pPr>
            <a:r>
              <a:rPr sz="2025" b="1">
                <a:solidFill>
                  <a:srgbClr val="0E0E12"/>
                </a:solidFill>
                <a:latin typeface="Silkscreen"/>
                <a:ea typeface="Silkscreen"/>
                <a:cs typeface="Silkscreen"/>
              </a:rPr>
              <a:t>LaghariLabs.io</a:t>
            </a:r>
          </a:p>
        </p:txBody>
      </p:sp>
      <p:sp>
        <p:nvSpPr>
          <p:cNvPr id="15" name="Editable 4-11">
            <a:extLst xmlns:a="http://schemas.openxmlformats.org/drawingml/2006/main">
              <a:ext uri="{FF2B5EF4-FFF2-40B4-BE49-F238E27FC236}">
                <a16:creationId xmlns:a16="http://schemas.microsoft.com/office/drawing/2014/main" id="{6152BF81-45C7-4AEA-9AC9-CB8BE97DE7F5}"/>
              </a:ext>
            </a:extLst>
          </p:cNvPr>
          <p:cNvSpPr>
            <a:spLocks xmlns:a="http://schemas.openxmlformats.org/drawingml/2006/main" noGrp="1"/>
          </p:cNvSpPr>
          <p:nvPr/>
        </p:nvSpPr>
        <p:spPr>
          <a:xfrm xmlns:a="http://schemas.openxmlformats.org/drawingml/2006/main">
            <a:off x="10572750" y="7991475"/>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0E0E12"/>
                </a:solidFill>
                <a:latin typeface="JetBrains Mono"/>
                <a:ea typeface="JetBrains Mono"/>
                <a:cs typeface="JetBrains Mono"/>
              </a:defRPr>
            </a:pPr>
            <a:r>
              <a:rPr sz="1800" b="0">
                <a:solidFill>
                  <a:srgbClr val="0E0E12"/>
                </a:solidFill>
                <a:latin typeface="JetBrains Mono"/>
                <a:ea typeface="JetBrains Mono"/>
                <a:cs typeface="JetBrains Mono"/>
              </a:rPr>
              <a:t>@mhlaghari</a:t>
            </a:r>
          </a:p>
        </p:txBody>
      </p:sp>
      <p:sp>
        <p:nvSpPr>
          <p:cNvPr id="16" name="Editable 4-12">
            <a:extLst xmlns:a="http://schemas.openxmlformats.org/drawingml/2006/main">
              <a:ext uri="{FF2B5EF4-FFF2-40B4-BE49-F238E27FC236}">
                <a16:creationId xmlns:a16="http://schemas.microsoft.com/office/drawing/2014/main" id="{7AEA963B-2E3A-4A4B-AD18-8A29D94953F2}"/>
              </a:ext>
            </a:extLst>
          </p:cNvPr>
          <p:cNvSpPr>
            <a:spLocks xmlns:a="http://schemas.openxmlformats.org/drawingml/2006/main" noGrp="1"/>
          </p:cNvSpPr>
          <p:nvPr/>
        </p:nvSpPr>
        <p:spPr>
          <a:xfrm xmlns:a="http://schemas.openxmlformats.org/drawingml/2006/main">
            <a:off x="13192125" y="7991475"/>
            <a:ext cx="1476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800" b="0">
                <a:solidFill>
                  <a:srgbClr val="0E0E12"/>
                </a:solidFill>
                <a:latin typeface="JetBrains Mono"/>
                <a:ea typeface="JetBrains Mono"/>
                <a:cs typeface="JetBrains Mono"/>
              </a:defRPr>
            </a:pPr>
            <a:r>
              <a:rPr sz="1800" b="0">
                <a:solidFill>
                  <a:srgbClr val="0E0E12"/>
                </a:solidFill>
                <a:latin typeface="JetBrains Mono"/>
                <a:ea typeface="JetBrains Mono"/>
                <a:cs typeface="JetBrains Mono"/>
              </a:rPr>
              <a:t>05 / 08</a:t>
            </a:r>
          </a:p>
        </p:txBody>
      </p:sp>
    </p:spTree>
    <p:extLst>
      <p:ext uri="{BB962C8B-B14F-4D97-AF65-F5344CB8AC3E}">
        <p14:creationId xmlns:p14="http://schemas.microsoft.com/office/powerpoint/2010/main" val="845013333"/>
      </p:ext>
    </p:extLst>
  </p:cSld>
</p:sld>
</file>

<file path=ppt/slides/slide6.xml><?xml version="1.0" encoding="utf-8"?>
<p:sld xmlns:p="http://schemas.openxmlformats.org/presentationml/2006/main">
  <p:cSld>
    <p:bg>
      <p:bgPr>
        <a:solidFill xmlns:a="http://schemas.openxmlformats.org/drawingml/2006/main">
          <a:srgbClr val="F2EBDA"/>
        </a:solidFill>
      </p:bgPr>
    </p:bg>
    <p:spTree>
      <p:nvGrpSpPr>
        <p:cNvPr id="1" name=""/>
        <p:cNvGrpSpPr/>
        <p:nvPr/>
      </p:nvGrpSpPr>
      <p:grpSpPr>
        <a:xfrm xmlns:a="http://schemas.openxmlformats.org/drawingml/2006/main"/>
      </p:grpSpPr>
      <p:sp>
        <p:nvSpPr>
          <p:cNvPr id="19" name="Brand frame">
            <a:extLst xmlns:a="http://schemas.openxmlformats.org/drawingml/2006/main">
              <a:ext uri="{FF2B5EF4-FFF2-40B4-BE49-F238E27FC236}">
                <a16:creationId xmlns:a16="http://schemas.microsoft.com/office/drawing/2014/main" id="{29AC0964-3D40-4AA3-AD84-FAE4B42A5DAD}"/>
              </a:ext>
            </a:extLst>
          </p:cNvPr>
          <p:cNvSpPr>
            <a:spLocks xmlns:a="http://schemas.openxmlformats.org/drawingml/2006/main" noGrp="1"/>
          </p:cNvSpPr>
          <p:nvPr/>
        </p:nvSpPr>
        <p:spPr>
          <a:xfrm xmlns:a="http://schemas.openxmlformats.org/drawingml/2006/main">
            <a:off x="19050" y="19050"/>
            <a:ext cx="15201900" cy="8534400"/>
          </a:xfrm>
          <a:prstGeom xmlns:a="http://schemas.openxmlformats.org/drawingml/2006/main" prst="rect">
            <a:avLst/>
          </a:prstGeom>
          <a:noFill xmlns:a="http://schemas.openxmlformats.org/drawingml/2006/main"/>
          <a:ln xmlns:a="http://schemas.openxmlformats.org/drawingml/2006/main" w="38100">
            <a:solidFill>
              <a:srgbClr val="0E0E12"/>
            </a:solidFill>
          </a:ln>
        </p:spPr>
      </p:sp>
      <p:sp>
        <p:nvSpPr>
          <p:cNvPr id="2" name="Editable 5-0">
            <a:extLst xmlns:a="http://schemas.openxmlformats.org/drawingml/2006/main">
              <a:ext uri="{FF2B5EF4-FFF2-40B4-BE49-F238E27FC236}">
                <a16:creationId xmlns:a16="http://schemas.microsoft.com/office/drawing/2014/main" id="{42EE46A0-40F8-4AB2-BB37-DEE1F9CAEE2F}"/>
              </a:ext>
            </a:extLst>
          </p:cNvPr>
          <p:cNvSpPr>
            <a:spLocks xmlns:a="http://schemas.openxmlformats.org/drawingml/2006/main" noGrp="1"/>
          </p:cNvSpPr>
          <p:nvPr/>
        </p:nvSpPr>
        <p:spPr>
          <a:xfrm xmlns:a="http://schemas.openxmlformats.org/drawingml/2006/main">
            <a:off x="571500" y="495300"/>
            <a:ext cx="1371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1">
                <a:solidFill>
                  <a:srgbClr val="0E0E12"/>
                </a:solidFill>
                <a:latin typeface="JetBrains Mono"/>
                <a:ea typeface="JetBrains Mono"/>
                <a:cs typeface="JetBrains Mono"/>
              </a:defRPr>
            </a:pPr>
            <a:r>
              <a:rPr sz="1800" b="1">
                <a:solidFill>
                  <a:srgbClr val="0E0E12"/>
                </a:solidFill>
                <a:latin typeface="JetBrains Mono"/>
                <a:ea typeface="JetBrains Mono"/>
                <a:cs typeface="JetBrains Mono"/>
              </a:rPr>
              <a:t>SPACES / WORKSPACES</a:t>
            </a:r>
          </a:p>
        </p:txBody>
      </p:sp>
      <p:sp>
        <p:nvSpPr>
          <p:cNvPr id="3" name="Editable 5-1">
            <a:extLst xmlns:a="http://schemas.openxmlformats.org/drawingml/2006/main">
              <a:ext uri="{FF2B5EF4-FFF2-40B4-BE49-F238E27FC236}">
                <a16:creationId xmlns:a16="http://schemas.microsoft.com/office/drawing/2014/main" id="{AED96544-5C47-40E4-83AD-0DA0884DFD82}"/>
              </a:ext>
            </a:extLst>
          </p:cNvPr>
          <p:cNvSpPr>
            <a:spLocks xmlns:a="http://schemas.openxmlformats.org/drawingml/2006/main" noGrp="1"/>
          </p:cNvSpPr>
          <p:nvPr/>
        </p:nvSpPr>
        <p:spPr>
          <a:xfrm xmlns:a="http://schemas.openxmlformats.org/drawingml/2006/main">
            <a:off x="571500" y="1276350"/>
            <a:ext cx="1400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6900" b="0">
                <a:solidFill>
                  <a:srgbClr val="0E0E12"/>
                </a:solidFill>
                <a:latin typeface="Silkscreen"/>
                <a:ea typeface="Silkscreen"/>
                <a:cs typeface="Silkscreen"/>
              </a:defRPr>
            </a:pPr>
            <a:r>
              <a:rPr sz="6900" b="0">
                <a:solidFill>
                  <a:srgbClr val="0E0E12"/>
                </a:solidFill>
                <a:latin typeface="Silkscreen"/>
                <a:ea typeface="Silkscreen"/>
                <a:cs typeface="Silkscreen"/>
              </a:rPr>
              <a:t>The work has a place</a:t>
            </a:r>
          </a:p>
        </p:txBody>
      </p:sp>
      <p:sp>
        <p:nvSpPr>
          <p:cNvPr id="4" name="Editable 5-2">
            <a:extLst xmlns:a="http://schemas.openxmlformats.org/drawingml/2006/main">
              <a:ext uri="{FF2B5EF4-FFF2-40B4-BE49-F238E27FC236}">
                <a16:creationId xmlns:a16="http://schemas.microsoft.com/office/drawing/2014/main" id="{26EE58EA-624A-46BD-9535-8A986AE258CF}"/>
              </a:ext>
            </a:extLst>
          </p:cNvPr>
          <p:cNvSpPr>
            <a:spLocks xmlns:a="http://schemas.openxmlformats.org/drawingml/2006/main" noGrp="1"/>
          </p:cNvSpPr>
          <p:nvPr/>
        </p:nvSpPr>
        <p:spPr>
          <a:xfrm xmlns:a="http://schemas.openxmlformats.org/drawingml/2006/main">
            <a:off x="609600" y="2609850"/>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925" b="0">
                <a:solidFill>
                  <a:srgbClr val="0E0E12"/>
                </a:solidFill>
                <a:latin typeface="JetBrains Mono"/>
                <a:ea typeface="JetBrains Mono"/>
                <a:cs typeface="JetBrains Mono"/>
              </a:defRPr>
            </a:pPr>
            <a:r>
              <a:rPr sz="2925" b="0">
                <a:solidFill>
                  <a:srgbClr val="0E0E12"/>
                </a:solidFill>
                <a:latin typeface="JetBrains Mono"/>
                <a:ea typeface="JetBrains Mono"/>
                <a:cs typeface="JetBrains Mono"/>
              </a:rPr>
              <a:t>Meeting context stays with the task.</a:t>
            </a:r>
          </a:p>
        </p:txBody>
      </p:sp>
      <p:sp>
        <p:nvSpPr>
          <p:cNvPr id="5" name="Brand layout surface">
            <a:extLst xmlns:a="http://schemas.openxmlformats.org/drawingml/2006/main">
              <a:ext uri="{FF2B5EF4-FFF2-40B4-BE49-F238E27FC236}">
                <a16:creationId xmlns:a16="http://schemas.microsoft.com/office/drawing/2014/main" id="{A7F349A9-D46A-4DFF-9B69-C145F9428DDE}"/>
              </a:ext>
            </a:extLst>
          </p:cNvPr>
          <p:cNvSpPr>
            <a:spLocks xmlns:a="http://schemas.openxmlformats.org/drawingml/2006/main" noGrp="1"/>
          </p:cNvSpPr>
          <p:nvPr/>
        </p:nvSpPr>
        <p:spPr>
          <a:xfrm xmlns:a="http://schemas.openxmlformats.org/drawingml/2006/main">
            <a:off x="571500" y="3667125"/>
            <a:ext cx="6781800" cy="3028950"/>
          </a:xfrm>
          <a:prstGeom xmlns:a="http://schemas.openxmlformats.org/drawingml/2006/main" prst="rect">
            <a:avLst/>
          </a:prstGeom>
          <a:solidFill xmlns:a="http://schemas.openxmlformats.org/drawingml/2006/main">
            <a:srgbClr val="E8DFC6"/>
          </a:solidFill>
          <a:ln xmlns:a="http://schemas.openxmlformats.org/drawingml/2006/main" w="28575">
            <a:solidFill>
              <a:srgbClr val="0E0E12"/>
            </a:solidFill>
          </a:ln>
        </p:spPr>
      </p:sp>
      <p:sp>
        <p:nvSpPr>
          <p:cNvPr id="6" name="Editable 5-4">
            <a:extLst xmlns:a="http://schemas.openxmlformats.org/drawingml/2006/main">
              <a:ext uri="{FF2B5EF4-FFF2-40B4-BE49-F238E27FC236}">
                <a16:creationId xmlns:a16="http://schemas.microsoft.com/office/drawing/2014/main" id="{D0124513-E6EA-4B3D-8D78-16BAC9B137CC}"/>
              </a:ext>
            </a:extLst>
          </p:cNvPr>
          <p:cNvSpPr>
            <a:spLocks xmlns:a="http://schemas.openxmlformats.org/drawingml/2006/main" noGrp="1"/>
          </p:cNvSpPr>
          <p:nvPr/>
        </p:nvSpPr>
        <p:spPr>
          <a:xfrm xmlns:a="http://schemas.openxmlformats.org/drawingml/2006/main">
            <a:off x="876300" y="4029075"/>
            <a:ext cx="614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50" b="1">
                <a:solidFill>
                  <a:srgbClr val="0E0E12"/>
                </a:solidFill>
                <a:latin typeface="JetBrains Mono"/>
                <a:ea typeface="JetBrains Mono"/>
                <a:cs typeface="JetBrains Mono"/>
              </a:defRPr>
            </a:pPr>
            <a:r>
              <a:rPr sz="1950" b="1">
                <a:solidFill>
                  <a:srgbClr val="0E0E12"/>
                </a:solidFill>
                <a:latin typeface="JetBrains Mono"/>
                <a:ea typeface="JetBrains Mono"/>
                <a:cs typeface="JetBrains Mono"/>
              </a:rPr>
              <a:t>RESEARCH</a:t>
            </a:r>
          </a:p>
        </p:txBody>
      </p:sp>
      <p:sp>
        <p:nvSpPr>
          <p:cNvPr id="7" name="Editable 5-5">
            <a:extLst xmlns:a="http://schemas.openxmlformats.org/drawingml/2006/main">
              <a:ext uri="{FF2B5EF4-FFF2-40B4-BE49-F238E27FC236}">
                <a16:creationId xmlns:a16="http://schemas.microsoft.com/office/drawing/2014/main" id="{152D19D3-538A-455D-8A07-EADBEF2BE6D0}"/>
              </a:ext>
            </a:extLst>
          </p:cNvPr>
          <p:cNvSpPr>
            <a:spLocks xmlns:a="http://schemas.openxmlformats.org/drawingml/2006/main" noGrp="1"/>
          </p:cNvSpPr>
          <p:nvPr/>
        </p:nvSpPr>
        <p:spPr>
          <a:xfrm xmlns:a="http://schemas.openxmlformats.org/drawingml/2006/main">
            <a:off x="876300" y="4638675"/>
            <a:ext cx="6143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4500" b="0">
                <a:solidFill>
                  <a:srgbClr val="0E0E12"/>
                </a:solidFill>
                <a:latin typeface="Silkscreen"/>
                <a:ea typeface="Silkscreen"/>
                <a:cs typeface="Silkscreen"/>
              </a:defRPr>
            </a:pPr>
            <a:r>
              <a:rPr sz="4500" b="0">
                <a:solidFill>
                  <a:srgbClr val="0E0E12"/>
                </a:solidFill>
                <a:latin typeface="Silkscreen"/>
                <a:ea typeface="Silkscreen"/>
                <a:cs typeface="Silkscreen"/>
              </a:rPr>
              <a:t>Explore the</a:t>
            </a:r>
          </a:p>
          <a:p xmlns:a="http://schemas.openxmlformats.org/drawingml/2006/main">
            <a:pPr algn="l">
              <a:lnSpc>
                <a:spcPct val="102000"/>
              </a:lnSpc>
              <a:buNone/>
              <a:defRPr sz="4500" b="0">
                <a:solidFill>
                  <a:srgbClr val="0E0E12"/>
                </a:solidFill>
                <a:latin typeface="Silkscreen"/>
                <a:ea typeface="Silkscreen"/>
                <a:cs typeface="Silkscreen"/>
              </a:defRPr>
            </a:pPr>
            <a:r>
              <a:rPr sz="4500" b="0">
                <a:solidFill>
                  <a:srgbClr val="0E0E12"/>
                </a:solidFill>
                <a:latin typeface="Silkscreen"/>
                <a:ea typeface="Silkscreen"/>
                <a:cs typeface="Silkscreen"/>
              </a:rPr>
              <a:t>options</a:t>
            </a:r>
          </a:p>
        </p:txBody>
      </p:sp>
      <p:sp>
        <p:nvSpPr>
          <p:cNvPr id="8" name="Editable 5-6">
            <a:extLst xmlns:a="http://schemas.openxmlformats.org/drawingml/2006/main">
              <a:ext uri="{FF2B5EF4-FFF2-40B4-BE49-F238E27FC236}">
                <a16:creationId xmlns:a16="http://schemas.microsoft.com/office/drawing/2014/main" id="{12FDDE75-99AE-4D2E-BFE4-ADF29048EF52}"/>
              </a:ext>
            </a:extLst>
          </p:cNvPr>
          <p:cNvSpPr>
            <a:spLocks xmlns:a="http://schemas.openxmlformats.org/drawingml/2006/main" noGrp="1"/>
          </p:cNvSpPr>
          <p:nvPr/>
        </p:nvSpPr>
        <p:spPr>
          <a:xfrm xmlns:a="http://schemas.openxmlformats.org/drawingml/2006/main">
            <a:off x="895350" y="6219825"/>
            <a:ext cx="6038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75" b="0">
                <a:solidFill>
                  <a:srgbClr val="0E0E12"/>
                </a:solidFill>
                <a:latin typeface="JetBrains Mono"/>
                <a:ea typeface="JetBrains Mono"/>
                <a:cs typeface="JetBrains Mono"/>
              </a:defRPr>
            </a:pPr>
            <a:r>
              <a:rPr sz="1875" b="0">
                <a:solidFill>
                  <a:srgbClr val="0E0E12"/>
                </a:solidFill>
                <a:latin typeface="JetBrains Mono"/>
                <a:ea typeface="JetBrains Mono"/>
                <a:cs typeface="JetBrains Mono"/>
              </a:rPr>
              <a:t>Sources and a draft to review.</a:t>
            </a:r>
          </a:p>
        </p:txBody>
      </p:sp>
      <p:sp>
        <p:nvSpPr>
          <p:cNvPr id="9" name="Pixel offset shadow">
            <a:extLst xmlns:a="http://schemas.openxmlformats.org/drawingml/2006/main">
              <a:ext uri="{FF2B5EF4-FFF2-40B4-BE49-F238E27FC236}">
                <a16:creationId xmlns:a16="http://schemas.microsoft.com/office/drawing/2014/main" id="{0455F7F0-FC3A-4B68-9914-069343C95858}"/>
              </a:ext>
            </a:extLst>
          </p:cNvPr>
          <p:cNvSpPr>
            <a:spLocks xmlns:a="http://schemas.openxmlformats.org/drawingml/2006/main" noGrp="1"/>
          </p:cNvSpPr>
          <p:nvPr/>
        </p:nvSpPr>
        <p:spPr>
          <a:xfrm xmlns:a="http://schemas.openxmlformats.org/drawingml/2006/main">
            <a:off x="7772400" y="3762375"/>
            <a:ext cx="6896100" cy="3028950"/>
          </a:xfrm>
          <a:prstGeom xmlns:a="http://schemas.openxmlformats.org/drawingml/2006/main" prst="rect">
            <a:avLst/>
          </a:prstGeom>
          <a:solidFill xmlns:a="http://schemas.openxmlformats.org/drawingml/2006/main">
            <a:srgbClr val="0E0E12"/>
          </a:solidFill>
          <a:ln xmlns:a="http://schemas.openxmlformats.org/drawingml/2006/main" w="0">
            <a:noFill/>
          </a:ln>
        </p:spPr>
      </p:sp>
      <p:sp>
        <p:nvSpPr>
          <p:cNvPr id="10" name="Brand layout surface">
            <a:extLst xmlns:a="http://schemas.openxmlformats.org/drawingml/2006/main">
              <a:ext uri="{FF2B5EF4-FFF2-40B4-BE49-F238E27FC236}">
                <a16:creationId xmlns:a16="http://schemas.microsoft.com/office/drawing/2014/main" id="{9C534A52-1CFB-4316-9894-5037C42B533C}"/>
              </a:ext>
            </a:extLst>
          </p:cNvPr>
          <p:cNvSpPr>
            <a:spLocks xmlns:a="http://schemas.openxmlformats.org/drawingml/2006/main" noGrp="1"/>
          </p:cNvSpPr>
          <p:nvPr/>
        </p:nvSpPr>
        <p:spPr>
          <a:xfrm xmlns:a="http://schemas.openxmlformats.org/drawingml/2006/main">
            <a:off x="7677150" y="3667125"/>
            <a:ext cx="6896100" cy="3028950"/>
          </a:xfrm>
          <a:prstGeom xmlns:a="http://schemas.openxmlformats.org/drawingml/2006/main" prst="rect">
            <a:avLst/>
          </a:prstGeom>
          <a:solidFill xmlns:a="http://schemas.openxmlformats.org/drawingml/2006/main">
            <a:srgbClr val="06D6A0"/>
          </a:solidFill>
          <a:ln xmlns:a="http://schemas.openxmlformats.org/drawingml/2006/main" w="28575">
            <a:solidFill>
              <a:srgbClr val="0E0E12"/>
            </a:solidFill>
          </a:ln>
        </p:spPr>
      </p:sp>
      <p:sp>
        <p:nvSpPr>
          <p:cNvPr id="11" name="Editable 5-8">
            <a:extLst xmlns:a="http://schemas.openxmlformats.org/drawingml/2006/main">
              <a:ext uri="{FF2B5EF4-FFF2-40B4-BE49-F238E27FC236}">
                <a16:creationId xmlns:a16="http://schemas.microsoft.com/office/drawing/2014/main" id="{CE191459-70C1-4BBC-A61E-F8710E061A8D}"/>
              </a:ext>
            </a:extLst>
          </p:cNvPr>
          <p:cNvSpPr>
            <a:spLocks xmlns:a="http://schemas.openxmlformats.org/drawingml/2006/main" noGrp="1"/>
          </p:cNvSpPr>
          <p:nvPr/>
        </p:nvSpPr>
        <p:spPr>
          <a:xfrm xmlns:a="http://schemas.openxmlformats.org/drawingml/2006/main">
            <a:off x="7981950" y="4029075"/>
            <a:ext cx="6210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950" b="1">
                <a:solidFill>
                  <a:srgbClr val="0E0E12"/>
                </a:solidFill>
                <a:latin typeface="JetBrains Mono"/>
                <a:ea typeface="JetBrains Mono"/>
                <a:cs typeface="JetBrains Mono"/>
              </a:defRPr>
            </a:pPr>
            <a:r>
              <a:rPr sz="1950" b="1">
                <a:solidFill>
                  <a:srgbClr val="0E0E12"/>
                </a:solidFill>
                <a:latin typeface="JetBrains Mono"/>
                <a:ea typeface="JetBrains Mono"/>
                <a:cs typeface="JetBrains Mono"/>
              </a:rPr>
              <a:t>ARCHITECTURE</a:t>
            </a:r>
          </a:p>
        </p:txBody>
      </p:sp>
      <p:sp>
        <p:nvSpPr>
          <p:cNvPr id="12" name="Editable 5-9">
            <a:extLst xmlns:a="http://schemas.openxmlformats.org/drawingml/2006/main">
              <a:ext uri="{FF2B5EF4-FFF2-40B4-BE49-F238E27FC236}">
                <a16:creationId xmlns:a16="http://schemas.microsoft.com/office/drawing/2014/main" id="{52367B78-8110-4A26-BCEA-F05050A08FAE}"/>
              </a:ext>
            </a:extLst>
          </p:cNvPr>
          <p:cNvSpPr>
            <a:spLocks xmlns:a="http://schemas.openxmlformats.org/drawingml/2006/main" noGrp="1"/>
          </p:cNvSpPr>
          <p:nvPr/>
        </p:nvSpPr>
        <p:spPr>
          <a:xfrm xmlns:a="http://schemas.openxmlformats.org/drawingml/2006/main">
            <a:off x="7981950" y="4638675"/>
            <a:ext cx="62103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4125" b="0">
                <a:solidFill>
                  <a:srgbClr val="0E0E12"/>
                </a:solidFill>
                <a:latin typeface="Silkscreen"/>
                <a:ea typeface="Silkscreen"/>
                <a:cs typeface="Silkscreen"/>
              </a:defRPr>
            </a:pPr>
            <a:r>
              <a:rPr sz="4125" b="0">
                <a:solidFill>
                  <a:srgbClr val="0E0E12"/>
                </a:solidFill>
                <a:latin typeface="Silkscreen"/>
                <a:ea typeface="Silkscreen"/>
                <a:cs typeface="Silkscreen"/>
              </a:rPr>
              <a:t>Make the</a:t>
            </a:r>
          </a:p>
          <a:p xmlns:a="http://schemas.openxmlformats.org/drawingml/2006/main">
            <a:pPr algn="l">
              <a:lnSpc>
                <a:spcPct val="102000"/>
              </a:lnSpc>
              <a:buNone/>
              <a:defRPr sz="4125" b="0">
                <a:solidFill>
                  <a:srgbClr val="0E0E12"/>
                </a:solidFill>
                <a:latin typeface="Silkscreen"/>
                <a:ea typeface="Silkscreen"/>
                <a:cs typeface="Silkscreen"/>
              </a:defRPr>
            </a:pPr>
            <a:r>
              <a:rPr sz="4125" b="0">
                <a:solidFill>
                  <a:srgbClr val="0E0E12"/>
                </a:solidFill>
                <a:latin typeface="Silkscreen"/>
                <a:ea typeface="Silkscreen"/>
                <a:cs typeface="Silkscreen"/>
              </a:rPr>
              <a:t>solution visible</a:t>
            </a:r>
          </a:p>
        </p:txBody>
      </p:sp>
      <p:sp>
        <p:nvSpPr>
          <p:cNvPr id="13" name="Editable 5-10">
            <a:extLst xmlns:a="http://schemas.openxmlformats.org/drawingml/2006/main">
              <a:ext uri="{FF2B5EF4-FFF2-40B4-BE49-F238E27FC236}">
                <a16:creationId xmlns:a16="http://schemas.microsoft.com/office/drawing/2014/main" id="{0F938175-C81D-4203-ADF0-360BDBF2CE2C}"/>
              </a:ext>
            </a:extLst>
          </p:cNvPr>
          <p:cNvSpPr>
            <a:spLocks xmlns:a="http://schemas.openxmlformats.org/drawingml/2006/main" noGrp="1"/>
          </p:cNvSpPr>
          <p:nvPr/>
        </p:nvSpPr>
        <p:spPr>
          <a:xfrm xmlns:a="http://schemas.openxmlformats.org/drawingml/2006/main">
            <a:off x="8001000" y="6219825"/>
            <a:ext cx="609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75" b="0">
                <a:solidFill>
                  <a:srgbClr val="0E0E12"/>
                </a:solidFill>
                <a:latin typeface="JetBrains Mono"/>
                <a:ea typeface="JetBrains Mono"/>
                <a:cs typeface="JetBrains Mono"/>
              </a:defRPr>
            </a:pPr>
            <a:r>
              <a:rPr sz="1875" b="0">
                <a:solidFill>
                  <a:srgbClr val="0E0E12"/>
                </a:solidFill>
                <a:latin typeface="JetBrains Mono"/>
                <a:ea typeface="JetBrains Mono"/>
                <a:cs typeface="JetBrains Mono"/>
              </a:rPr>
              <a:t>Solution diagrams in the workspace.</a:t>
            </a:r>
          </a:p>
        </p:txBody>
      </p:sp>
      <p:sp>
        <p:nvSpPr>
          <p:cNvPr id="14" name="Editable 5-11">
            <a:extLst xmlns:a="http://schemas.openxmlformats.org/drawingml/2006/main">
              <a:ext uri="{FF2B5EF4-FFF2-40B4-BE49-F238E27FC236}">
                <a16:creationId xmlns:a16="http://schemas.microsoft.com/office/drawing/2014/main" id="{3E03EC42-0F03-410C-9009-0116243CEE18}"/>
              </a:ext>
            </a:extLst>
          </p:cNvPr>
          <p:cNvSpPr>
            <a:spLocks xmlns:a="http://schemas.openxmlformats.org/drawingml/2006/main" noGrp="1"/>
          </p:cNvSpPr>
          <p:nvPr/>
        </p:nvSpPr>
        <p:spPr>
          <a:xfrm xmlns:a="http://schemas.openxmlformats.org/drawingml/2006/main">
            <a:off x="609600" y="7153275"/>
            <a:ext cx="13696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1">
                <a:solidFill>
                  <a:srgbClr val="0E0E12"/>
                </a:solidFill>
                <a:latin typeface="JetBrains Mono"/>
                <a:ea typeface="JetBrains Mono"/>
                <a:cs typeface="JetBrains Mono"/>
              </a:defRPr>
            </a:pPr>
            <a:r>
              <a:rPr sz="2100" b="1">
                <a:solidFill>
                  <a:srgbClr val="0E0E12"/>
                </a:solidFill>
                <a:latin typeface="JetBrains Mono"/>
                <a:ea typeface="JetBrains Mono"/>
                <a:cs typeface="JetBrains Mono"/>
              </a:rPr>
              <a:t>I approve the task. Adversaria drafts. I review the result.</a:t>
            </a:r>
          </a:p>
        </p:txBody>
      </p:sp>
      <p:sp>
        <p:nvSpPr>
          <p:cNvPr id="15" name="Brand layout surface">
            <a:extLst xmlns:a="http://schemas.openxmlformats.org/drawingml/2006/main">
              <a:ext uri="{FF2B5EF4-FFF2-40B4-BE49-F238E27FC236}">
                <a16:creationId xmlns:a16="http://schemas.microsoft.com/office/drawing/2014/main" id="{2787A09C-EDA7-48F6-9F45-C033ADF3FE5C}"/>
              </a:ext>
            </a:extLst>
          </p:cNvPr>
          <p:cNvSpPr>
            <a:spLocks xmlns:a="http://schemas.openxmlformats.org/drawingml/2006/main" noGrp="1"/>
          </p:cNvSpPr>
          <p:nvPr/>
        </p:nvSpPr>
        <p:spPr>
          <a:xfrm xmlns:a="http://schemas.openxmlformats.org/drawingml/2006/main">
            <a:off x="571500" y="7772400"/>
            <a:ext cx="14097000" cy="28575"/>
          </a:xfrm>
          <a:prstGeom xmlns:a="http://schemas.openxmlformats.org/drawingml/2006/main" prst="rect">
            <a:avLst/>
          </a:prstGeom>
          <a:solidFill xmlns:a="http://schemas.openxmlformats.org/drawingml/2006/main">
            <a:srgbClr val="0E0E12"/>
          </a:solidFill>
          <a:ln xmlns:a="http://schemas.openxmlformats.org/drawingml/2006/main" w="0">
            <a:noFill/>
          </a:ln>
        </p:spPr>
      </p:sp>
      <p:sp>
        <p:nvSpPr>
          <p:cNvPr id="16" name="Editable 5-13">
            <a:extLst xmlns:a="http://schemas.openxmlformats.org/drawingml/2006/main">
              <a:ext uri="{FF2B5EF4-FFF2-40B4-BE49-F238E27FC236}">
                <a16:creationId xmlns:a16="http://schemas.microsoft.com/office/drawing/2014/main" id="{9F895203-DA8D-46C4-9E24-A777677F795B}"/>
              </a:ext>
            </a:extLst>
          </p:cNvPr>
          <p:cNvSpPr>
            <a:spLocks xmlns:a="http://schemas.openxmlformats.org/drawingml/2006/main" noGrp="1"/>
          </p:cNvSpPr>
          <p:nvPr/>
        </p:nvSpPr>
        <p:spPr>
          <a:xfrm xmlns:a="http://schemas.openxmlformats.org/drawingml/2006/main">
            <a:off x="571500" y="7991475"/>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25" b="1">
                <a:solidFill>
                  <a:srgbClr val="0E0E12"/>
                </a:solidFill>
                <a:latin typeface="Silkscreen"/>
                <a:ea typeface="Silkscreen"/>
                <a:cs typeface="Silkscreen"/>
              </a:defRPr>
            </a:pPr>
            <a:r>
              <a:rPr sz="2025" b="1">
                <a:solidFill>
                  <a:srgbClr val="0E0E12"/>
                </a:solidFill>
                <a:latin typeface="Silkscreen"/>
                <a:ea typeface="Silkscreen"/>
                <a:cs typeface="Silkscreen"/>
              </a:rPr>
              <a:t>LaghariLabs.io</a:t>
            </a:r>
          </a:p>
        </p:txBody>
      </p:sp>
      <p:sp>
        <p:nvSpPr>
          <p:cNvPr id="17" name="Editable 5-14">
            <a:extLst xmlns:a="http://schemas.openxmlformats.org/drawingml/2006/main">
              <a:ext uri="{FF2B5EF4-FFF2-40B4-BE49-F238E27FC236}">
                <a16:creationId xmlns:a16="http://schemas.microsoft.com/office/drawing/2014/main" id="{592FBE6F-DC27-4E46-AAC2-BA6A4F486B32}"/>
              </a:ext>
            </a:extLst>
          </p:cNvPr>
          <p:cNvSpPr>
            <a:spLocks xmlns:a="http://schemas.openxmlformats.org/drawingml/2006/main" noGrp="1"/>
          </p:cNvSpPr>
          <p:nvPr/>
        </p:nvSpPr>
        <p:spPr>
          <a:xfrm xmlns:a="http://schemas.openxmlformats.org/drawingml/2006/main">
            <a:off x="10572750" y="7991475"/>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0E0E12"/>
                </a:solidFill>
                <a:latin typeface="JetBrains Mono"/>
                <a:ea typeface="JetBrains Mono"/>
                <a:cs typeface="JetBrains Mono"/>
              </a:defRPr>
            </a:pPr>
            <a:r>
              <a:rPr sz="1800" b="0">
                <a:solidFill>
                  <a:srgbClr val="0E0E12"/>
                </a:solidFill>
                <a:latin typeface="JetBrains Mono"/>
                <a:ea typeface="JetBrains Mono"/>
                <a:cs typeface="JetBrains Mono"/>
              </a:rPr>
              <a:t>@mhlaghari</a:t>
            </a:r>
          </a:p>
        </p:txBody>
      </p:sp>
      <p:sp>
        <p:nvSpPr>
          <p:cNvPr id="18" name="Editable 5-15">
            <a:extLst xmlns:a="http://schemas.openxmlformats.org/drawingml/2006/main">
              <a:ext uri="{FF2B5EF4-FFF2-40B4-BE49-F238E27FC236}">
                <a16:creationId xmlns:a16="http://schemas.microsoft.com/office/drawing/2014/main" id="{937A3524-8702-4EBE-922C-9EBEF3663876}"/>
              </a:ext>
            </a:extLst>
          </p:cNvPr>
          <p:cNvSpPr>
            <a:spLocks xmlns:a="http://schemas.openxmlformats.org/drawingml/2006/main" noGrp="1"/>
          </p:cNvSpPr>
          <p:nvPr/>
        </p:nvSpPr>
        <p:spPr>
          <a:xfrm xmlns:a="http://schemas.openxmlformats.org/drawingml/2006/main">
            <a:off x="13192125" y="7991475"/>
            <a:ext cx="1476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800" b="0">
                <a:solidFill>
                  <a:srgbClr val="0E0E12"/>
                </a:solidFill>
                <a:latin typeface="JetBrains Mono"/>
                <a:ea typeface="JetBrains Mono"/>
                <a:cs typeface="JetBrains Mono"/>
              </a:defRPr>
            </a:pPr>
            <a:r>
              <a:rPr sz="1800" b="0">
                <a:solidFill>
                  <a:srgbClr val="0E0E12"/>
                </a:solidFill>
                <a:latin typeface="JetBrains Mono"/>
                <a:ea typeface="JetBrains Mono"/>
                <a:cs typeface="JetBrains Mono"/>
              </a:rPr>
              <a:t>06 / 08</a:t>
            </a:r>
          </a:p>
        </p:txBody>
      </p:sp>
    </p:spTree>
    <p:extLst>
      <p:ext uri="{BB962C8B-B14F-4D97-AF65-F5344CB8AC3E}">
        <p14:creationId xmlns:p14="http://schemas.microsoft.com/office/powerpoint/2010/main" val="526171912"/>
      </p:ext>
    </p:extLst>
  </p:cSld>
</p:sld>
</file>

<file path=ppt/slides/slide7.xml><?xml version="1.0" encoding="utf-8"?>
<p:sld xmlns:p="http://schemas.openxmlformats.org/presentationml/2006/main">
  <p:cSld>
    <p:bg>
      <p:bgPr>
        <a:solidFill xmlns:a="http://schemas.openxmlformats.org/drawingml/2006/main">
          <a:srgbClr val="F2EBDA"/>
        </a:solidFill>
      </p:bgPr>
    </p:bg>
    <p:spTree>
      <p:nvGrpSpPr>
        <p:cNvPr id="1" name=""/>
        <p:cNvGrpSpPr/>
        <p:nvPr/>
      </p:nvGrpSpPr>
      <p:grpSpPr>
        <a:xfrm xmlns:a="http://schemas.openxmlformats.org/drawingml/2006/main"/>
      </p:grpSpPr>
      <p:sp>
        <p:nvSpPr>
          <p:cNvPr id="18" name="Brand frame">
            <a:extLst xmlns:a="http://schemas.openxmlformats.org/drawingml/2006/main">
              <a:ext uri="{FF2B5EF4-FFF2-40B4-BE49-F238E27FC236}">
                <a16:creationId xmlns:a16="http://schemas.microsoft.com/office/drawing/2014/main" id="{7344F5DB-0D97-4384-B318-C597F059A4FA}"/>
              </a:ext>
            </a:extLst>
          </p:cNvPr>
          <p:cNvSpPr>
            <a:spLocks xmlns:a="http://schemas.openxmlformats.org/drawingml/2006/main" noGrp="1"/>
          </p:cNvSpPr>
          <p:nvPr/>
        </p:nvSpPr>
        <p:spPr>
          <a:xfrm xmlns:a="http://schemas.openxmlformats.org/drawingml/2006/main">
            <a:off x="19050" y="19050"/>
            <a:ext cx="15201900" cy="8534400"/>
          </a:xfrm>
          <a:prstGeom xmlns:a="http://schemas.openxmlformats.org/drawingml/2006/main" prst="rect">
            <a:avLst/>
          </a:prstGeom>
          <a:noFill xmlns:a="http://schemas.openxmlformats.org/drawingml/2006/main"/>
          <a:ln xmlns:a="http://schemas.openxmlformats.org/drawingml/2006/main" w="38100">
            <a:solidFill>
              <a:srgbClr val="0E0E12"/>
            </a:solidFill>
          </a:ln>
        </p:spPr>
      </p:sp>
      <p:sp>
        <p:nvSpPr>
          <p:cNvPr id="2" name="Editable 6-0">
            <a:extLst xmlns:a="http://schemas.openxmlformats.org/drawingml/2006/main">
              <a:ext uri="{FF2B5EF4-FFF2-40B4-BE49-F238E27FC236}">
                <a16:creationId xmlns:a16="http://schemas.microsoft.com/office/drawing/2014/main" id="{C43EEFEE-AD37-45D8-B788-7F3DE2680C93}"/>
              </a:ext>
            </a:extLst>
          </p:cNvPr>
          <p:cNvSpPr>
            <a:spLocks xmlns:a="http://schemas.openxmlformats.org/drawingml/2006/main" noGrp="1"/>
          </p:cNvSpPr>
          <p:nvPr/>
        </p:nvSpPr>
        <p:spPr>
          <a:xfrm xmlns:a="http://schemas.openxmlformats.org/drawingml/2006/main">
            <a:off x="571500" y="495300"/>
            <a:ext cx="1371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1">
                <a:solidFill>
                  <a:srgbClr val="0E0E12"/>
                </a:solidFill>
                <a:latin typeface="JetBrains Mono"/>
                <a:ea typeface="JetBrains Mono"/>
                <a:cs typeface="JetBrains Mono"/>
              </a:defRPr>
            </a:pPr>
            <a:r>
              <a:rPr sz="1800" b="1">
                <a:solidFill>
                  <a:srgbClr val="0E0E12"/>
                </a:solidFill>
                <a:latin typeface="JetBrains Mono"/>
                <a:ea typeface="JetBrains Mono"/>
                <a:cs typeface="JetBrains Mono"/>
              </a:rPr>
              <a:t>BUILT TODAY     12 SEP 2026</a:t>
            </a:r>
          </a:p>
        </p:txBody>
      </p:sp>
      <p:sp>
        <p:nvSpPr>
          <p:cNvPr id="3" name="Editable 6-1">
            <a:extLst xmlns:a="http://schemas.openxmlformats.org/drawingml/2006/main">
              <a:ext uri="{FF2B5EF4-FFF2-40B4-BE49-F238E27FC236}">
                <a16:creationId xmlns:a16="http://schemas.microsoft.com/office/drawing/2014/main" id="{1F843FDD-6D43-4610-A248-CC70E6DD384D}"/>
              </a:ext>
            </a:extLst>
          </p:cNvPr>
          <p:cNvSpPr>
            <a:spLocks xmlns:a="http://schemas.openxmlformats.org/drawingml/2006/main" noGrp="1"/>
          </p:cNvSpPr>
          <p:nvPr/>
        </p:nvSpPr>
        <p:spPr>
          <a:xfrm xmlns:a="http://schemas.openxmlformats.org/drawingml/2006/main">
            <a:off x="571500" y="1285875"/>
            <a:ext cx="1390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7050" b="0">
                <a:solidFill>
                  <a:srgbClr val="0E0E12"/>
                </a:solidFill>
                <a:latin typeface="Silkscreen"/>
                <a:ea typeface="Silkscreen"/>
                <a:cs typeface="Silkscreen"/>
              </a:defRPr>
            </a:pPr>
            <a:r>
              <a:rPr sz="7050" b="0">
                <a:solidFill>
                  <a:srgbClr val="0E0E12"/>
                </a:solidFill>
                <a:latin typeface="Silkscreen"/>
                <a:ea typeface="Silkscreen"/>
                <a:cs typeface="Silkscreen"/>
              </a:rPr>
              <a:t>Two ways to use it</a:t>
            </a:r>
          </a:p>
        </p:txBody>
      </p:sp>
      <p:sp>
        <p:nvSpPr>
          <p:cNvPr id="4" name="Brand layout surface">
            <a:extLst xmlns:a="http://schemas.openxmlformats.org/drawingml/2006/main">
              <a:ext uri="{FF2B5EF4-FFF2-40B4-BE49-F238E27FC236}">
                <a16:creationId xmlns:a16="http://schemas.microsoft.com/office/drawing/2014/main" id="{1AD338B3-5ACC-4E05-8DEC-54FD801DF934}"/>
              </a:ext>
            </a:extLst>
          </p:cNvPr>
          <p:cNvSpPr>
            <a:spLocks xmlns:a="http://schemas.openxmlformats.org/drawingml/2006/main" noGrp="1"/>
          </p:cNvSpPr>
          <p:nvPr/>
        </p:nvSpPr>
        <p:spPr>
          <a:xfrm xmlns:a="http://schemas.openxmlformats.org/drawingml/2006/main">
            <a:off x="571500" y="2905125"/>
            <a:ext cx="6772275" cy="3981450"/>
          </a:xfrm>
          <a:prstGeom xmlns:a="http://schemas.openxmlformats.org/drawingml/2006/main" prst="rect">
            <a:avLst/>
          </a:prstGeom>
          <a:solidFill xmlns:a="http://schemas.openxmlformats.org/drawingml/2006/main">
            <a:srgbClr val="E8DFC6"/>
          </a:solidFill>
          <a:ln xmlns:a="http://schemas.openxmlformats.org/drawingml/2006/main" w="28575">
            <a:solidFill>
              <a:srgbClr val="0E0E12"/>
            </a:solidFill>
          </a:ln>
        </p:spPr>
      </p:sp>
      <p:sp>
        <p:nvSpPr>
          <p:cNvPr id="5" name="Editable 6-3">
            <a:extLst xmlns:a="http://schemas.openxmlformats.org/drawingml/2006/main">
              <a:ext uri="{FF2B5EF4-FFF2-40B4-BE49-F238E27FC236}">
                <a16:creationId xmlns:a16="http://schemas.microsoft.com/office/drawing/2014/main" id="{F2429BD2-12B2-4287-92F0-64B2AB94B113}"/>
              </a:ext>
            </a:extLst>
          </p:cNvPr>
          <p:cNvSpPr>
            <a:spLocks xmlns:a="http://schemas.openxmlformats.org/drawingml/2006/main" noGrp="1"/>
          </p:cNvSpPr>
          <p:nvPr/>
        </p:nvSpPr>
        <p:spPr>
          <a:xfrm xmlns:a="http://schemas.openxmlformats.org/drawingml/2006/main">
            <a:off x="876300" y="3238500"/>
            <a:ext cx="6019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25" b="1">
                <a:solidFill>
                  <a:srgbClr val="0E0E12"/>
                </a:solidFill>
                <a:latin typeface="JetBrains Mono"/>
                <a:ea typeface="JetBrains Mono"/>
                <a:cs typeface="JetBrains Mono"/>
              </a:defRPr>
            </a:pPr>
            <a:r>
              <a:rPr sz="2025" b="1">
                <a:solidFill>
                  <a:srgbClr val="0E0E12"/>
                </a:solidFill>
                <a:latin typeface="JetBrains Mono"/>
                <a:ea typeface="JetBrains Mono"/>
                <a:cs typeface="JetBrains Mono"/>
              </a:rPr>
              <a:t>01   DESKTOP</a:t>
            </a:r>
          </a:p>
        </p:txBody>
      </p:sp>
      <p:sp>
        <p:nvSpPr>
          <p:cNvPr id="6" name="Editable 6-4">
            <a:extLst xmlns:a="http://schemas.openxmlformats.org/drawingml/2006/main">
              <a:ext uri="{FF2B5EF4-FFF2-40B4-BE49-F238E27FC236}">
                <a16:creationId xmlns:a16="http://schemas.microsoft.com/office/drawing/2014/main" id="{347F417A-14A9-4E7A-A40B-A319E1AD05AC}"/>
              </a:ext>
            </a:extLst>
          </p:cNvPr>
          <p:cNvSpPr>
            <a:spLocks xmlns:a="http://schemas.openxmlformats.org/drawingml/2006/main" noGrp="1"/>
          </p:cNvSpPr>
          <p:nvPr/>
        </p:nvSpPr>
        <p:spPr>
          <a:xfrm xmlns:a="http://schemas.openxmlformats.org/drawingml/2006/main">
            <a:off x="876300" y="3876675"/>
            <a:ext cx="60483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5100" b="0">
                <a:solidFill>
                  <a:srgbClr val="0E0E12"/>
                </a:solidFill>
                <a:latin typeface="Silkscreen"/>
                <a:ea typeface="Silkscreen"/>
                <a:cs typeface="Silkscreen"/>
              </a:defRPr>
            </a:pPr>
            <a:r>
              <a:rPr sz="5100" b="0">
                <a:solidFill>
                  <a:srgbClr val="0E0E12"/>
                </a:solidFill>
                <a:latin typeface="Silkscreen"/>
                <a:ea typeface="Silkscreen"/>
                <a:cs typeface="Silkscreen"/>
              </a:rPr>
              <a:t>Copilot</a:t>
            </a:r>
          </a:p>
          <a:p xmlns:a="http://schemas.openxmlformats.org/drawingml/2006/main">
            <a:pPr algn="l">
              <a:lnSpc>
                <a:spcPct val="102000"/>
              </a:lnSpc>
              <a:buNone/>
              <a:defRPr sz="5100" b="0">
                <a:solidFill>
                  <a:srgbClr val="0E0E12"/>
                </a:solidFill>
                <a:latin typeface="Silkscreen"/>
                <a:ea typeface="Silkscreen"/>
                <a:cs typeface="Silkscreen"/>
              </a:defRPr>
            </a:pPr>
            <a:r>
              <a:rPr sz="5100" b="0">
                <a:solidFill>
                  <a:srgbClr val="0E0E12"/>
                </a:solidFill>
                <a:latin typeface="Silkscreen"/>
                <a:ea typeface="Silkscreen"/>
                <a:cs typeface="Silkscreen"/>
              </a:rPr>
              <a:t>+ Spaces</a:t>
            </a:r>
          </a:p>
        </p:txBody>
      </p:sp>
      <p:sp>
        <p:nvSpPr>
          <p:cNvPr id="7" name="Editable 6-5">
            <a:extLst xmlns:a="http://schemas.openxmlformats.org/drawingml/2006/main">
              <a:ext uri="{FF2B5EF4-FFF2-40B4-BE49-F238E27FC236}">
                <a16:creationId xmlns:a16="http://schemas.microsoft.com/office/drawing/2014/main" id="{AE1C4F81-CDF6-4351-AD9D-4B9D83B69C74}"/>
              </a:ext>
            </a:extLst>
          </p:cNvPr>
          <p:cNvSpPr>
            <a:spLocks xmlns:a="http://schemas.openxmlformats.org/drawingml/2006/main" noGrp="1"/>
          </p:cNvSpPr>
          <p:nvPr/>
        </p:nvSpPr>
        <p:spPr>
          <a:xfrm xmlns:a="http://schemas.openxmlformats.org/drawingml/2006/main">
            <a:off x="914400" y="5581650"/>
            <a:ext cx="6000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40000"/>
              </a:lnSpc>
              <a:buNone/>
              <a:defRPr sz="2325" b="0">
                <a:solidFill>
                  <a:srgbClr val="0E0E12"/>
                </a:solidFill>
                <a:latin typeface="JetBrains Mono"/>
                <a:ea typeface="JetBrains Mono"/>
                <a:cs typeface="JetBrains Mono"/>
              </a:defRPr>
            </a:pPr>
            <a:r>
              <a:rPr sz="2325" b="0">
                <a:solidFill>
                  <a:srgbClr val="0E0E12"/>
                </a:solidFill>
                <a:latin typeface="JetBrains Mono"/>
                <a:ea typeface="JetBrains Mono"/>
                <a:cs typeface="JetBrains Mono"/>
              </a:rPr>
              <a:t>Extended the companion</a:t>
            </a:r>
          </a:p>
          <a:p xmlns:a="http://schemas.openxmlformats.org/drawingml/2006/main">
            <a:pPr algn="l">
              <a:lnSpc>
                <a:spcPct val="140000"/>
              </a:lnSpc>
              <a:buNone/>
              <a:defRPr sz="2325" b="0">
                <a:solidFill>
                  <a:srgbClr val="0E0E12"/>
                </a:solidFill>
                <a:latin typeface="JetBrains Mono"/>
                <a:ea typeface="JetBrains Mono"/>
                <a:cs typeface="JetBrains Mono"/>
              </a:defRPr>
            </a:pPr>
            <a:r>
              <a:rPr sz="2325" b="0">
                <a:solidFill>
                  <a:srgbClr val="0E0E12"/>
                </a:solidFill>
                <a:latin typeface="JetBrains Mono"/>
                <a:ea typeface="JetBrains Mono"/>
                <a:cs typeface="JetBrains Mono"/>
              </a:rPr>
              <a:t>and workspace flow.</a:t>
            </a:r>
          </a:p>
        </p:txBody>
      </p:sp>
      <p:sp>
        <p:nvSpPr>
          <p:cNvPr id="8" name="Pixel offset shadow">
            <a:extLst xmlns:a="http://schemas.openxmlformats.org/drawingml/2006/main">
              <a:ext uri="{FF2B5EF4-FFF2-40B4-BE49-F238E27FC236}">
                <a16:creationId xmlns:a16="http://schemas.microsoft.com/office/drawing/2014/main" id="{1D4F4ABE-A548-42C6-9D17-4B78D0EBF3E2}"/>
              </a:ext>
            </a:extLst>
          </p:cNvPr>
          <p:cNvSpPr>
            <a:spLocks xmlns:a="http://schemas.openxmlformats.org/drawingml/2006/main" noGrp="1"/>
          </p:cNvSpPr>
          <p:nvPr/>
        </p:nvSpPr>
        <p:spPr>
          <a:xfrm xmlns:a="http://schemas.openxmlformats.org/drawingml/2006/main">
            <a:off x="7772400" y="3000375"/>
            <a:ext cx="6896100" cy="3981450"/>
          </a:xfrm>
          <a:prstGeom xmlns:a="http://schemas.openxmlformats.org/drawingml/2006/main" prst="rect">
            <a:avLst/>
          </a:prstGeom>
          <a:solidFill xmlns:a="http://schemas.openxmlformats.org/drawingml/2006/main">
            <a:srgbClr val="3A86FF"/>
          </a:solidFill>
          <a:ln xmlns:a="http://schemas.openxmlformats.org/drawingml/2006/main" w="0">
            <a:noFill/>
          </a:ln>
        </p:spPr>
      </p:sp>
      <p:sp>
        <p:nvSpPr>
          <p:cNvPr id="9" name="Brand layout surface">
            <a:extLst xmlns:a="http://schemas.openxmlformats.org/drawingml/2006/main">
              <a:ext uri="{FF2B5EF4-FFF2-40B4-BE49-F238E27FC236}">
                <a16:creationId xmlns:a16="http://schemas.microsoft.com/office/drawing/2014/main" id="{ACC2522B-5B0C-46DF-87D9-AE58EE26DA9B}"/>
              </a:ext>
            </a:extLst>
          </p:cNvPr>
          <p:cNvSpPr>
            <a:spLocks xmlns:a="http://schemas.openxmlformats.org/drawingml/2006/main" noGrp="1"/>
          </p:cNvSpPr>
          <p:nvPr/>
        </p:nvSpPr>
        <p:spPr>
          <a:xfrm xmlns:a="http://schemas.openxmlformats.org/drawingml/2006/main">
            <a:off x="7677150" y="2905125"/>
            <a:ext cx="6896100" cy="3981450"/>
          </a:xfrm>
          <a:prstGeom xmlns:a="http://schemas.openxmlformats.org/drawingml/2006/main" prst="rect">
            <a:avLst/>
          </a:prstGeom>
          <a:solidFill xmlns:a="http://schemas.openxmlformats.org/drawingml/2006/main">
            <a:srgbClr val="0E0E12"/>
          </a:solidFill>
          <a:ln xmlns:a="http://schemas.openxmlformats.org/drawingml/2006/main" w="28575">
            <a:solidFill>
              <a:srgbClr val="0E0E12"/>
            </a:solidFill>
          </a:ln>
        </p:spPr>
      </p:sp>
      <p:sp>
        <p:nvSpPr>
          <p:cNvPr id="10" name="Editable 6-7">
            <a:extLst xmlns:a="http://schemas.openxmlformats.org/drawingml/2006/main">
              <a:ext uri="{FF2B5EF4-FFF2-40B4-BE49-F238E27FC236}">
                <a16:creationId xmlns:a16="http://schemas.microsoft.com/office/drawing/2014/main" id="{2AB08ABD-CBF9-46A0-9E13-B640E10C52C4}"/>
              </a:ext>
            </a:extLst>
          </p:cNvPr>
          <p:cNvSpPr>
            <a:spLocks xmlns:a="http://schemas.openxmlformats.org/drawingml/2006/main" noGrp="1"/>
          </p:cNvSpPr>
          <p:nvPr/>
        </p:nvSpPr>
        <p:spPr>
          <a:xfrm xmlns:a="http://schemas.openxmlformats.org/drawingml/2006/main">
            <a:off x="7981950" y="3238500"/>
            <a:ext cx="609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25" b="1">
                <a:solidFill>
                  <a:srgbClr val="06D6A0"/>
                </a:solidFill>
                <a:latin typeface="JetBrains Mono"/>
                <a:ea typeface="JetBrains Mono"/>
                <a:cs typeface="JetBrains Mono"/>
              </a:defRPr>
            </a:pPr>
            <a:r>
              <a:rPr sz="2025" b="1">
                <a:solidFill>
                  <a:srgbClr val="06D6A0"/>
                </a:solidFill>
                <a:latin typeface="JetBrains Mono"/>
                <a:ea typeface="JetBrains Mono"/>
                <a:cs typeface="JetBrains Mono"/>
              </a:rPr>
              <a:t>02   TERMINAL</a:t>
            </a:r>
          </a:p>
        </p:txBody>
      </p:sp>
      <p:sp>
        <p:nvSpPr>
          <p:cNvPr id="11" name="Editable 6-8">
            <a:extLst xmlns:a="http://schemas.openxmlformats.org/drawingml/2006/main">
              <a:ext uri="{FF2B5EF4-FFF2-40B4-BE49-F238E27FC236}">
                <a16:creationId xmlns:a16="http://schemas.microsoft.com/office/drawing/2014/main" id="{3B24CC07-40AF-41F8-B828-F3686CCAC663}"/>
              </a:ext>
            </a:extLst>
          </p:cNvPr>
          <p:cNvSpPr>
            <a:spLocks xmlns:a="http://schemas.openxmlformats.org/drawingml/2006/main" noGrp="1"/>
          </p:cNvSpPr>
          <p:nvPr/>
        </p:nvSpPr>
        <p:spPr>
          <a:xfrm xmlns:a="http://schemas.openxmlformats.org/drawingml/2006/main">
            <a:off x="7981950" y="3876675"/>
            <a:ext cx="61436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5100" b="0">
                <a:solidFill>
                  <a:srgbClr val="F2EBDA"/>
                </a:solidFill>
                <a:latin typeface="Silkscreen"/>
                <a:ea typeface="Silkscreen"/>
                <a:cs typeface="Silkscreen"/>
              </a:defRPr>
            </a:pPr>
            <a:r>
              <a:rPr sz="5100" b="0">
                <a:solidFill>
                  <a:srgbClr val="F2EBDA"/>
                </a:solidFill>
                <a:latin typeface="Silkscreen"/>
                <a:ea typeface="Silkscreen"/>
                <a:cs typeface="Silkscreen"/>
              </a:rPr>
              <a:t>Adversaria</a:t>
            </a:r>
          </a:p>
          <a:p xmlns:a="http://schemas.openxmlformats.org/drawingml/2006/main">
            <a:pPr algn="l">
              <a:lnSpc>
                <a:spcPct val="102000"/>
              </a:lnSpc>
              <a:buNone/>
              <a:defRPr sz="5100" b="0">
                <a:solidFill>
                  <a:srgbClr val="F2EBDA"/>
                </a:solidFill>
                <a:latin typeface="Silkscreen"/>
                <a:ea typeface="Silkscreen"/>
                <a:cs typeface="Silkscreen"/>
              </a:defRPr>
            </a:pPr>
            <a:r>
              <a:rPr sz="5100" b="0">
                <a:solidFill>
                  <a:srgbClr val="F2EBDA"/>
                </a:solidFill>
                <a:latin typeface="Silkscreen"/>
                <a:ea typeface="Silkscreen"/>
                <a:cs typeface="Silkscreen"/>
              </a:rPr>
              <a:t>CLI</a:t>
            </a:r>
          </a:p>
        </p:txBody>
      </p:sp>
      <p:sp>
        <p:nvSpPr>
          <p:cNvPr id="12" name="Editable 6-9">
            <a:extLst xmlns:a="http://schemas.openxmlformats.org/drawingml/2006/main">
              <a:ext uri="{FF2B5EF4-FFF2-40B4-BE49-F238E27FC236}">
                <a16:creationId xmlns:a16="http://schemas.microsoft.com/office/drawing/2014/main" id="{77B4A884-EC33-49CD-9226-9D5171BBB00E}"/>
              </a:ext>
            </a:extLst>
          </p:cNvPr>
          <p:cNvSpPr>
            <a:spLocks xmlns:a="http://schemas.openxmlformats.org/drawingml/2006/main" noGrp="1"/>
          </p:cNvSpPr>
          <p:nvPr/>
        </p:nvSpPr>
        <p:spPr>
          <a:xfrm xmlns:a="http://schemas.openxmlformats.org/drawingml/2006/main">
            <a:off x="8020050" y="5581650"/>
            <a:ext cx="609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40000"/>
              </a:lnSpc>
              <a:buNone/>
              <a:defRPr sz="2325" b="0">
                <a:solidFill>
                  <a:srgbClr val="F2EBDA"/>
                </a:solidFill>
                <a:latin typeface="JetBrains Mono"/>
                <a:ea typeface="JetBrains Mono"/>
                <a:cs typeface="JetBrains Mono"/>
              </a:defRPr>
            </a:pPr>
            <a:r>
              <a:rPr sz="2325" b="0">
                <a:solidFill>
                  <a:srgbClr val="F2EBDA"/>
                </a:solidFill>
                <a:latin typeface="JetBrains Mono"/>
                <a:ea typeface="JetBrains Mono"/>
                <a:cs typeface="JetBrains Mono"/>
              </a:rPr>
              <a:t>Cloud speech, models</a:t>
            </a:r>
          </a:p>
          <a:p xmlns:a="http://schemas.openxmlformats.org/drawingml/2006/main">
            <a:pPr algn="l">
              <a:lnSpc>
                <a:spcPct val="140000"/>
              </a:lnSpc>
              <a:buNone/>
              <a:defRPr sz="2325" b="0">
                <a:solidFill>
                  <a:srgbClr val="F2EBDA"/>
                </a:solidFill>
                <a:latin typeface="JetBrains Mono"/>
                <a:ea typeface="JetBrains Mono"/>
                <a:cs typeface="JetBrains Mono"/>
              </a:defRPr>
            </a:pPr>
            <a:r>
              <a:rPr sz="2325" b="0">
                <a:solidFill>
                  <a:srgbClr val="F2EBDA"/>
                </a:solidFill>
                <a:latin typeface="JetBrains Mono"/>
                <a:ea typeface="JetBrains Mono"/>
                <a:cs typeface="JetBrains Mono"/>
              </a:rPr>
              <a:t>and research with my keys.</a:t>
            </a:r>
          </a:p>
        </p:txBody>
      </p:sp>
      <p:sp>
        <p:nvSpPr>
          <p:cNvPr id="13" name="Editable 6-10">
            <a:extLst xmlns:a="http://schemas.openxmlformats.org/drawingml/2006/main">
              <a:ext uri="{FF2B5EF4-FFF2-40B4-BE49-F238E27FC236}">
                <a16:creationId xmlns:a16="http://schemas.microsoft.com/office/drawing/2014/main" id="{F198BC86-8C15-487B-95DA-00585EE41FCD}"/>
              </a:ext>
            </a:extLst>
          </p:cNvPr>
          <p:cNvSpPr>
            <a:spLocks xmlns:a="http://schemas.openxmlformats.org/drawingml/2006/main" noGrp="1"/>
          </p:cNvSpPr>
          <p:nvPr/>
        </p:nvSpPr>
        <p:spPr>
          <a:xfrm xmlns:a="http://schemas.openxmlformats.org/drawingml/2006/main">
            <a:off x="609600" y="7191375"/>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75" b="0">
                <a:solidFill>
                  <a:srgbClr val="6B6470"/>
                </a:solidFill>
                <a:latin typeface="JetBrains Mono"/>
                <a:ea typeface="JetBrains Mono"/>
                <a:cs typeface="JetBrains Mono"/>
              </a:defRPr>
            </a:pPr>
            <a:r>
              <a:rPr sz="1875" b="0">
                <a:solidFill>
                  <a:srgbClr val="6B6470"/>
                </a:solidFill>
                <a:latin typeface="JetBrains Mono"/>
                <a:ea typeface="JetBrains Mono"/>
                <a:cs typeface="JetBrains Mono"/>
              </a:rPr>
              <a:t>CLI: OpenRouter + Exa   /   Optional OpenAI   /   Codex uses its own login</a:t>
            </a:r>
          </a:p>
        </p:txBody>
      </p:sp>
      <p:sp>
        <p:nvSpPr>
          <p:cNvPr id="14" name="Brand layout surface">
            <a:extLst xmlns:a="http://schemas.openxmlformats.org/drawingml/2006/main">
              <a:ext uri="{FF2B5EF4-FFF2-40B4-BE49-F238E27FC236}">
                <a16:creationId xmlns:a16="http://schemas.microsoft.com/office/drawing/2014/main" id="{7D1EC793-56B0-48AB-92B9-E7ABE5B2F35C}"/>
              </a:ext>
            </a:extLst>
          </p:cNvPr>
          <p:cNvSpPr>
            <a:spLocks xmlns:a="http://schemas.openxmlformats.org/drawingml/2006/main" noGrp="1"/>
          </p:cNvSpPr>
          <p:nvPr/>
        </p:nvSpPr>
        <p:spPr>
          <a:xfrm xmlns:a="http://schemas.openxmlformats.org/drawingml/2006/main">
            <a:off x="571500" y="7772400"/>
            <a:ext cx="14097000" cy="28575"/>
          </a:xfrm>
          <a:prstGeom xmlns:a="http://schemas.openxmlformats.org/drawingml/2006/main" prst="rect">
            <a:avLst/>
          </a:prstGeom>
          <a:solidFill xmlns:a="http://schemas.openxmlformats.org/drawingml/2006/main">
            <a:srgbClr val="0E0E12"/>
          </a:solidFill>
          <a:ln xmlns:a="http://schemas.openxmlformats.org/drawingml/2006/main" w="0">
            <a:noFill/>
          </a:ln>
        </p:spPr>
      </p:sp>
      <p:sp>
        <p:nvSpPr>
          <p:cNvPr id="15" name="Editable 6-12">
            <a:extLst xmlns:a="http://schemas.openxmlformats.org/drawingml/2006/main">
              <a:ext uri="{FF2B5EF4-FFF2-40B4-BE49-F238E27FC236}">
                <a16:creationId xmlns:a16="http://schemas.microsoft.com/office/drawing/2014/main" id="{16A55F24-75BC-44C5-8A8C-6F04CE8E9C18}"/>
              </a:ext>
            </a:extLst>
          </p:cNvPr>
          <p:cNvSpPr>
            <a:spLocks xmlns:a="http://schemas.openxmlformats.org/drawingml/2006/main" noGrp="1"/>
          </p:cNvSpPr>
          <p:nvPr/>
        </p:nvSpPr>
        <p:spPr>
          <a:xfrm xmlns:a="http://schemas.openxmlformats.org/drawingml/2006/main">
            <a:off x="571500" y="7991475"/>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25" b="1">
                <a:solidFill>
                  <a:srgbClr val="0E0E12"/>
                </a:solidFill>
                <a:latin typeface="Silkscreen"/>
                <a:ea typeface="Silkscreen"/>
                <a:cs typeface="Silkscreen"/>
              </a:defRPr>
            </a:pPr>
            <a:r>
              <a:rPr sz="2025" b="1">
                <a:solidFill>
                  <a:srgbClr val="0E0E12"/>
                </a:solidFill>
                <a:latin typeface="Silkscreen"/>
                <a:ea typeface="Silkscreen"/>
                <a:cs typeface="Silkscreen"/>
              </a:rPr>
              <a:t>LaghariLabs.io</a:t>
            </a:r>
          </a:p>
        </p:txBody>
      </p:sp>
      <p:sp>
        <p:nvSpPr>
          <p:cNvPr id="16" name="Editable 6-13">
            <a:extLst xmlns:a="http://schemas.openxmlformats.org/drawingml/2006/main">
              <a:ext uri="{FF2B5EF4-FFF2-40B4-BE49-F238E27FC236}">
                <a16:creationId xmlns:a16="http://schemas.microsoft.com/office/drawing/2014/main" id="{649B1F04-5AD4-48DD-AD7F-4A69A1AEF331}"/>
              </a:ext>
            </a:extLst>
          </p:cNvPr>
          <p:cNvSpPr>
            <a:spLocks xmlns:a="http://schemas.openxmlformats.org/drawingml/2006/main" noGrp="1"/>
          </p:cNvSpPr>
          <p:nvPr/>
        </p:nvSpPr>
        <p:spPr>
          <a:xfrm xmlns:a="http://schemas.openxmlformats.org/drawingml/2006/main">
            <a:off x="10572750" y="7991475"/>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0E0E12"/>
                </a:solidFill>
                <a:latin typeface="JetBrains Mono"/>
                <a:ea typeface="JetBrains Mono"/>
                <a:cs typeface="JetBrains Mono"/>
              </a:defRPr>
            </a:pPr>
            <a:r>
              <a:rPr sz="1800" b="0">
                <a:solidFill>
                  <a:srgbClr val="0E0E12"/>
                </a:solidFill>
                <a:latin typeface="JetBrains Mono"/>
                <a:ea typeface="JetBrains Mono"/>
                <a:cs typeface="JetBrains Mono"/>
              </a:rPr>
              <a:t>@mhlaghari</a:t>
            </a:r>
          </a:p>
        </p:txBody>
      </p:sp>
      <p:sp>
        <p:nvSpPr>
          <p:cNvPr id="17" name="Editable 6-14">
            <a:extLst xmlns:a="http://schemas.openxmlformats.org/drawingml/2006/main">
              <a:ext uri="{FF2B5EF4-FFF2-40B4-BE49-F238E27FC236}">
                <a16:creationId xmlns:a16="http://schemas.microsoft.com/office/drawing/2014/main" id="{80FAA1A7-626D-4009-979B-C67DFD8A6B91}"/>
              </a:ext>
            </a:extLst>
          </p:cNvPr>
          <p:cNvSpPr>
            <a:spLocks xmlns:a="http://schemas.openxmlformats.org/drawingml/2006/main" noGrp="1"/>
          </p:cNvSpPr>
          <p:nvPr/>
        </p:nvSpPr>
        <p:spPr>
          <a:xfrm xmlns:a="http://schemas.openxmlformats.org/drawingml/2006/main">
            <a:off x="13192125" y="7991475"/>
            <a:ext cx="1476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800" b="0">
                <a:solidFill>
                  <a:srgbClr val="0E0E12"/>
                </a:solidFill>
                <a:latin typeface="JetBrains Mono"/>
                <a:ea typeface="JetBrains Mono"/>
                <a:cs typeface="JetBrains Mono"/>
              </a:defRPr>
            </a:pPr>
            <a:r>
              <a:rPr sz="1800" b="0">
                <a:solidFill>
                  <a:srgbClr val="0E0E12"/>
                </a:solidFill>
                <a:latin typeface="JetBrains Mono"/>
                <a:ea typeface="JetBrains Mono"/>
                <a:cs typeface="JetBrains Mono"/>
              </a:rPr>
              <a:t>07 / 08</a:t>
            </a:r>
          </a:p>
        </p:txBody>
      </p:sp>
    </p:spTree>
    <p:extLst>
      <p:ext uri="{BB962C8B-B14F-4D97-AF65-F5344CB8AC3E}">
        <p14:creationId xmlns:p14="http://schemas.microsoft.com/office/powerpoint/2010/main" val="1025274911"/>
      </p:ext>
    </p:extLst>
  </p:cSld>
</p:sld>
</file>

<file path=ppt/slides/slide8.xml><?xml version="1.0" encoding="utf-8"?>
<p:sld xmlns:p="http://schemas.openxmlformats.org/presentationml/2006/main">
  <p:cSld>
    <p:bg>
      <p:bgPr>
        <a:solidFill xmlns:a="http://schemas.openxmlformats.org/drawingml/2006/main">
          <a:srgbClr val="0E0E12"/>
        </a:solidFill>
      </p:bgPr>
    </p:bg>
    <p:spTree>
      <p:nvGrpSpPr>
        <p:cNvPr id="1" name=""/>
        <p:cNvGrpSpPr/>
        <p:nvPr/>
      </p:nvGrpSpPr>
      <p:grpSpPr>
        <a:xfrm xmlns:a="http://schemas.openxmlformats.org/drawingml/2006/main"/>
      </p:grpSpPr>
      <p:sp>
        <p:nvSpPr>
          <p:cNvPr id="13" name="Brand frame">
            <a:extLst xmlns:a="http://schemas.openxmlformats.org/drawingml/2006/main">
              <a:ext uri="{FF2B5EF4-FFF2-40B4-BE49-F238E27FC236}">
                <a16:creationId xmlns:a16="http://schemas.microsoft.com/office/drawing/2014/main" id="{AE39BEB1-C129-4DF6-9D16-589A049E8D25}"/>
              </a:ext>
            </a:extLst>
          </p:cNvPr>
          <p:cNvSpPr>
            <a:spLocks xmlns:a="http://schemas.openxmlformats.org/drawingml/2006/main" noGrp="1"/>
          </p:cNvSpPr>
          <p:nvPr/>
        </p:nvSpPr>
        <p:spPr>
          <a:xfrm xmlns:a="http://schemas.openxmlformats.org/drawingml/2006/main">
            <a:off x="19050" y="19050"/>
            <a:ext cx="15201900" cy="8534400"/>
          </a:xfrm>
          <a:prstGeom xmlns:a="http://schemas.openxmlformats.org/drawingml/2006/main" prst="rect">
            <a:avLst/>
          </a:prstGeom>
          <a:noFill xmlns:a="http://schemas.openxmlformats.org/drawingml/2006/main"/>
          <a:ln xmlns:a="http://schemas.openxmlformats.org/drawingml/2006/main" w="38100">
            <a:solidFill>
              <a:srgbClr val="0E0E12"/>
            </a:solidFill>
          </a:ln>
        </p:spPr>
      </p:sp>
      <p:sp>
        <p:nvSpPr>
          <p:cNvPr id="2" name="Editable 7-0">
            <a:extLst xmlns:a="http://schemas.openxmlformats.org/drawingml/2006/main">
              <a:ext uri="{FF2B5EF4-FFF2-40B4-BE49-F238E27FC236}">
                <a16:creationId xmlns:a16="http://schemas.microsoft.com/office/drawing/2014/main" id="{0F5C5D47-CDF0-4DF9-99EF-646965E023A0}"/>
              </a:ext>
            </a:extLst>
          </p:cNvPr>
          <p:cNvSpPr>
            <a:spLocks xmlns:a="http://schemas.openxmlformats.org/drawingml/2006/main" noGrp="1"/>
          </p:cNvSpPr>
          <p:nvPr/>
        </p:nvSpPr>
        <p:spPr>
          <a:xfrm xmlns:a="http://schemas.openxmlformats.org/drawingml/2006/main">
            <a:off x="571500" y="495300"/>
            <a:ext cx="1371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1">
                <a:solidFill>
                  <a:srgbClr val="FFD23F"/>
                </a:solidFill>
                <a:latin typeface="JetBrains Mono"/>
                <a:ea typeface="JetBrains Mono"/>
                <a:cs typeface="JetBrains Mono"/>
              </a:defRPr>
            </a:pPr>
            <a:r>
              <a:rPr sz="1800" b="1">
                <a:solidFill>
                  <a:srgbClr val="FFD23F"/>
                </a:solidFill>
                <a:latin typeface="JetBrains Mono"/>
                <a:ea typeface="JetBrains Mono"/>
                <a:cs typeface="JetBrains Mono"/>
              </a:rPr>
              <a:t>WHY I KEEP BUILDING</a:t>
            </a:r>
          </a:p>
        </p:txBody>
      </p:sp>
      <p:sp>
        <p:nvSpPr>
          <p:cNvPr id="3" name="Editable 7-1">
            <a:extLst xmlns:a="http://schemas.openxmlformats.org/drawingml/2006/main">
              <a:ext uri="{FF2B5EF4-FFF2-40B4-BE49-F238E27FC236}">
                <a16:creationId xmlns:a16="http://schemas.microsoft.com/office/drawing/2014/main" id="{726390C3-73B6-4E9B-B606-0F8767B18D0A}"/>
              </a:ext>
            </a:extLst>
          </p:cNvPr>
          <p:cNvSpPr>
            <a:spLocks xmlns:a="http://schemas.openxmlformats.org/drawingml/2006/main" noGrp="1"/>
          </p:cNvSpPr>
          <p:nvPr/>
        </p:nvSpPr>
        <p:spPr>
          <a:xfrm xmlns:a="http://schemas.openxmlformats.org/drawingml/2006/main">
            <a:off x="571500" y="1638300"/>
            <a:ext cx="139065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9300" b="0">
                <a:solidFill>
                  <a:srgbClr val="F2EBDA"/>
                </a:solidFill>
                <a:latin typeface="Silkscreen"/>
                <a:ea typeface="Silkscreen"/>
                <a:cs typeface="Silkscreen"/>
              </a:defRPr>
            </a:pPr>
            <a:r>
              <a:rPr sz="9300" b="0">
                <a:solidFill>
                  <a:srgbClr val="F2EBDA"/>
                </a:solidFill>
                <a:latin typeface="Silkscreen"/>
                <a:ea typeface="Silkscreen"/>
                <a:cs typeface="Silkscreen"/>
              </a:rPr>
              <a:t>More room</a:t>
            </a:r>
          </a:p>
        </p:txBody>
      </p:sp>
      <p:sp>
        <p:nvSpPr>
          <p:cNvPr id="4" name="Editable 7-2">
            <a:extLst xmlns:a="http://schemas.openxmlformats.org/drawingml/2006/main">
              <a:ext uri="{FF2B5EF4-FFF2-40B4-BE49-F238E27FC236}">
                <a16:creationId xmlns:a16="http://schemas.microsoft.com/office/drawing/2014/main" id="{B6845EF3-D7FC-412A-A433-3C22573C6C43}"/>
              </a:ext>
            </a:extLst>
          </p:cNvPr>
          <p:cNvSpPr>
            <a:spLocks xmlns:a="http://schemas.openxmlformats.org/drawingml/2006/main" noGrp="1"/>
          </p:cNvSpPr>
          <p:nvPr/>
        </p:nvSpPr>
        <p:spPr>
          <a:xfrm xmlns:a="http://schemas.openxmlformats.org/drawingml/2006/main">
            <a:off x="571500" y="2933700"/>
            <a:ext cx="139065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9300" b="0">
                <a:solidFill>
                  <a:srgbClr val="FFD23F"/>
                </a:solidFill>
                <a:latin typeface="Silkscreen"/>
                <a:ea typeface="Silkscreen"/>
                <a:cs typeface="Silkscreen"/>
              </a:defRPr>
            </a:pPr>
            <a:r>
              <a:rPr sz="9300" b="0">
                <a:solidFill>
                  <a:srgbClr val="FFD23F"/>
                </a:solidFill>
                <a:latin typeface="Silkscreen"/>
                <a:ea typeface="Silkscreen"/>
                <a:cs typeface="Silkscreen"/>
              </a:rPr>
              <a:t>to build</a:t>
            </a:r>
          </a:p>
        </p:txBody>
      </p:sp>
      <p:sp>
        <p:nvSpPr>
          <p:cNvPr id="5" name="Editable 7-3">
            <a:extLst xmlns:a="http://schemas.openxmlformats.org/drawingml/2006/main">
              <a:ext uri="{FF2B5EF4-FFF2-40B4-BE49-F238E27FC236}">
                <a16:creationId xmlns:a16="http://schemas.microsoft.com/office/drawing/2014/main" id="{9E943B2A-FAE7-4A75-86E1-A77E2EFF2FD0}"/>
              </a:ext>
            </a:extLst>
          </p:cNvPr>
          <p:cNvSpPr>
            <a:spLocks xmlns:a="http://schemas.openxmlformats.org/drawingml/2006/main" noGrp="1"/>
          </p:cNvSpPr>
          <p:nvPr/>
        </p:nvSpPr>
        <p:spPr>
          <a:xfrm xmlns:a="http://schemas.openxmlformats.org/drawingml/2006/main">
            <a:off x="628650" y="4914900"/>
            <a:ext cx="1323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3225" b="0">
                <a:solidFill>
                  <a:srgbClr val="F2EBDA"/>
                </a:solidFill>
                <a:latin typeface="JetBrains Mono"/>
                <a:ea typeface="JetBrains Mono"/>
                <a:cs typeface="JetBrains Mono"/>
              </a:defRPr>
            </a:pPr>
            <a:r>
              <a:rPr sz="3225" b="0">
                <a:solidFill>
                  <a:srgbClr val="F2EBDA"/>
                </a:solidFill>
                <a:latin typeface="JetBrains Mono"/>
                <a:ea typeface="JetBrains Mono"/>
                <a:cs typeface="JetBrains Mono"/>
              </a:rPr>
              <a:t>That’s why I built Adversaria.</a:t>
            </a:r>
          </a:p>
        </p:txBody>
      </p:sp>
      <p:sp>
        <p:nvSpPr>
          <p:cNvPr id="6" name="Editable 7-4">
            <a:extLst xmlns:a="http://schemas.openxmlformats.org/drawingml/2006/main">
              <a:ext uri="{FF2B5EF4-FFF2-40B4-BE49-F238E27FC236}">
                <a16:creationId xmlns:a16="http://schemas.microsoft.com/office/drawing/2014/main" id="{153F3841-52AF-4AA9-9C6F-611F147E4E14}"/>
              </a:ext>
            </a:extLst>
          </p:cNvPr>
          <p:cNvSpPr>
            <a:spLocks xmlns:a="http://schemas.openxmlformats.org/drawingml/2006/main" noGrp="1"/>
          </p:cNvSpPr>
          <p:nvPr/>
        </p:nvSpPr>
        <p:spPr>
          <a:xfrm xmlns:a="http://schemas.openxmlformats.org/drawingml/2006/main">
            <a:off x="628650" y="5819775"/>
            <a:ext cx="1343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325" b="0">
                <a:solidFill>
                  <a:srgbClr val="F2EBDA"/>
                </a:solidFill>
                <a:latin typeface="JetBrains Mono"/>
                <a:ea typeface="JetBrains Mono"/>
                <a:cs typeface="JetBrains Mono"/>
              </a:defRPr>
            </a:pPr>
            <a:r>
              <a:rPr sz="2325" b="0">
                <a:solidFill>
                  <a:srgbClr val="F2EBDA"/>
                </a:solidFill>
                <a:latin typeface="JetBrains Mono"/>
                <a:ea typeface="JetBrains Mono"/>
                <a:cs typeface="JetBrains Mono"/>
              </a:rPr>
              <a:t>Hamza’s ongoing project at Laghari Labs.</a:t>
            </a:r>
          </a:p>
        </p:txBody>
      </p:sp>
      <p:sp>
        <p:nvSpPr>
          <p:cNvPr id="7" name="Brand layout surface">
            <a:extLst xmlns:a="http://schemas.openxmlformats.org/drawingml/2006/main">
              <a:ext uri="{FF2B5EF4-FFF2-40B4-BE49-F238E27FC236}">
                <a16:creationId xmlns:a16="http://schemas.microsoft.com/office/drawing/2014/main" id="{6DDC49AF-1CA3-4C35-AFB2-6A3016D9CFE4}"/>
              </a:ext>
            </a:extLst>
          </p:cNvPr>
          <p:cNvSpPr>
            <a:spLocks xmlns:a="http://schemas.openxmlformats.org/drawingml/2006/main" noGrp="1"/>
          </p:cNvSpPr>
          <p:nvPr/>
        </p:nvSpPr>
        <p:spPr>
          <a:xfrm xmlns:a="http://schemas.openxmlformats.org/drawingml/2006/main">
            <a:off x="571500" y="6743700"/>
            <a:ext cx="13954125" cy="609600"/>
          </a:xfrm>
          <a:prstGeom xmlns:a="http://schemas.openxmlformats.org/drawingml/2006/main" prst="rect">
            <a:avLst/>
          </a:prstGeom>
          <a:solidFill xmlns:a="http://schemas.openxmlformats.org/drawingml/2006/main">
            <a:srgbClr val="0E0E12"/>
          </a:solidFill>
          <a:ln xmlns:a="http://schemas.openxmlformats.org/drawingml/2006/main" w="19050">
            <a:solidFill>
              <a:srgbClr val="0E0E12"/>
            </a:solidFill>
          </a:ln>
        </p:spPr>
      </p:sp>
      <p:sp>
        <p:nvSpPr>
          <p:cNvPr id="8" name="Editable 7-6">
            <a:extLst xmlns:a="http://schemas.openxmlformats.org/drawingml/2006/main">
              <a:ext uri="{FF2B5EF4-FFF2-40B4-BE49-F238E27FC236}">
                <a16:creationId xmlns:a16="http://schemas.microsoft.com/office/drawing/2014/main" id="{32EDE905-CC9D-4D21-8E0F-87B031B0F26B}"/>
              </a:ext>
            </a:extLst>
          </p:cNvPr>
          <p:cNvSpPr>
            <a:spLocks xmlns:a="http://schemas.openxmlformats.org/drawingml/2006/main" noGrp="1"/>
          </p:cNvSpPr>
          <p:nvPr/>
        </p:nvSpPr>
        <p:spPr>
          <a:xfrm xmlns:a="http://schemas.openxmlformats.org/drawingml/2006/main">
            <a:off x="762000" y="6867525"/>
            <a:ext cx="1352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100" b="0">
                <a:solidFill>
                  <a:srgbClr val="06D6A0"/>
                </a:solidFill>
                <a:latin typeface="JetBrains Mono"/>
                <a:ea typeface="JetBrains Mono"/>
                <a:cs typeface="JetBrains Mono"/>
              </a:defRPr>
            </a:pPr>
            <a:r>
              <a:rPr sz="2100" b="0">
                <a:solidFill>
                  <a:srgbClr val="06D6A0"/>
                </a:solidFill>
                <a:latin typeface="JetBrains Mono"/>
                <a:ea typeface="JetBrains Mono"/>
                <a:cs typeface="JetBrains Mono"/>
              </a:rPr>
              <a:t>./adversaria setup     then     ./adversaria</a:t>
            </a:r>
          </a:p>
        </p:txBody>
      </p:sp>
      <p:sp>
        <p:nvSpPr>
          <p:cNvPr id="9" name="Brand layout surface">
            <a:extLst xmlns:a="http://schemas.openxmlformats.org/drawingml/2006/main">
              <a:ext uri="{FF2B5EF4-FFF2-40B4-BE49-F238E27FC236}">
                <a16:creationId xmlns:a16="http://schemas.microsoft.com/office/drawing/2014/main" id="{E1517370-0A83-435A-8C95-76AFDA7BBD2F}"/>
              </a:ext>
            </a:extLst>
          </p:cNvPr>
          <p:cNvSpPr>
            <a:spLocks xmlns:a="http://schemas.openxmlformats.org/drawingml/2006/main" noGrp="1"/>
          </p:cNvSpPr>
          <p:nvPr/>
        </p:nvSpPr>
        <p:spPr>
          <a:xfrm xmlns:a="http://schemas.openxmlformats.org/drawingml/2006/main">
            <a:off x="571500" y="7772400"/>
            <a:ext cx="14097000" cy="28575"/>
          </a:xfrm>
          <a:prstGeom xmlns:a="http://schemas.openxmlformats.org/drawingml/2006/main" prst="rect">
            <a:avLst/>
          </a:prstGeom>
          <a:solidFill xmlns:a="http://schemas.openxmlformats.org/drawingml/2006/main">
            <a:srgbClr val="F2EBDA"/>
          </a:solidFill>
          <a:ln xmlns:a="http://schemas.openxmlformats.org/drawingml/2006/main" w="0">
            <a:noFill/>
          </a:ln>
        </p:spPr>
      </p:sp>
      <p:sp>
        <p:nvSpPr>
          <p:cNvPr id="10" name="Editable 7-8">
            <a:extLst xmlns:a="http://schemas.openxmlformats.org/drawingml/2006/main">
              <a:ext uri="{FF2B5EF4-FFF2-40B4-BE49-F238E27FC236}">
                <a16:creationId xmlns:a16="http://schemas.microsoft.com/office/drawing/2014/main" id="{94F915CD-53EA-4958-8021-4542F55C780E}"/>
              </a:ext>
            </a:extLst>
          </p:cNvPr>
          <p:cNvSpPr>
            <a:spLocks xmlns:a="http://schemas.openxmlformats.org/drawingml/2006/main" noGrp="1"/>
          </p:cNvSpPr>
          <p:nvPr/>
        </p:nvSpPr>
        <p:spPr>
          <a:xfrm xmlns:a="http://schemas.openxmlformats.org/drawingml/2006/main">
            <a:off x="571500" y="7991475"/>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2025" b="1">
                <a:solidFill>
                  <a:srgbClr val="F2EBDA"/>
                </a:solidFill>
                <a:latin typeface="Silkscreen"/>
                <a:ea typeface="Silkscreen"/>
                <a:cs typeface="Silkscreen"/>
              </a:defRPr>
            </a:pPr>
            <a:r>
              <a:rPr sz="2025" b="1">
                <a:solidFill>
                  <a:srgbClr val="F2EBDA"/>
                </a:solidFill>
                <a:latin typeface="Silkscreen"/>
                <a:ea typeface="Silkscreen"/>
                <a:cs typeface="Silkscreen"/>
              </a:rPr>
              <a:t>LaghariLabs.io</a:t>
            </a:r>
          </a:p>
        </p:txBody>
      </p:sp>
      <p:sp>
        <p:nvSpPr>
          <p:cNvPr id="11" name="Editable 7-9">
            <a:extLst xmlns:a="http://schemas.openxmlformats.org/drawingml/2006/main">
              <a:ext uri="{FF2B5EF4-FFF2-40B4-BE49-F238E27FC236}">
                <a16:creationId xmlns:a16="http://schemas.microsoft.com/office/drawing/2014/main" id="{EAD8E4CC-1756-4C7A-BB2C-617B70F40458}"/>
              </a:ext>
            </a:extLst>
          </p:cNvPr>
          <p:cNvSpPr>
            <a:spLocks xmlns:a="http://schemas.openxmlformats.org/drawingml/2006/main" noGrp="1"/>
          </p:cNvSpPr>
          <p:nvPr/>
        </p:nvSpPr>
        <p:spPr>
          <a:xfrm xmlns:a="http://schemas.openxmlformats.org/drawingml/2006/main">
            <a:off x="10572750" y="7991475"/>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0000"/>
              </a:lnSpc>
              <a:buNone/>
              <a:defRPr sz="1800" b="0">
                <a:solidFill>
                  <a:srgbClr val="F2EBDA"/>
                </a:solidFill>
                <a:latin typeface="JetBrains Mono"/>
                <a:ea typeface="JetBrains Mono"/>
                <a:cs typeface="JetBrains Mono"/>
              </a:defRPr>
            </a:pPr>
            <a:r>
              <a:rPr sz="1800" b="0">
                <a:solidFill>
                  <a:srgbClr val="F2EBDA"/>
                </a:solidFill>
                <a:latin typeface="JetBrains Mono"/>
                <a:ea typeface="JetBrains Mono"/>
                <a:cs typeface="JetBrains Mono"/>
              </a:rPr>
              <a:t>@mhlaghari</a:t>
            </a:r>
          </a:p>
        </p:txBody>
      </p:sp>
      <p:sp>
        <p:nvSpPr>
          <p:cNvPr id="12" name="Editable 7-10">
            <a:extLst xmlns:a="http://schemas.openxmlformats.org/drawingml/2006/main">
              <a:ext uri="{FF2B5EF4-FFF2-40B4-BE49-F238E27FC236}">
                <a16:creationId xmlns:a16="http://schemas.microsoft.com/office/drawing/2014/main" id="{D7DA3849-74AF-4401-8563-5CE58F7388F2}"/>
              </a:ext>
            </a:extLst>
          </p:cNvPr>
          <p:cNvSpPr>
            <a:spLocks xmlns:a="http://schemas.openxmlformats.org/drawingml/2006/main" noGrp="1"/>
          </p:cNvSpPr>
          <p:nvPr/>
        </p:nvSpPr>
        <p:spPr>
          <a:xfrm xmlns:a="http://schemas.openxmlformats.org/drawingml/2006/main">
            <a:off x="13192125" y="7991475"/>
            <a:ext cx="1476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0000"/>
              </a:lnSpc>
              <a:buNone/>
              <a:defRPr sz="1800" b="0">
                <a:solidFill>
                  <a:srgbClr val="F2EBDA"/>
                </a:solidFill>
                <a:latin typeface="JetBrains Mono"/>
                <a:ea typeface="JetBrains Mono"/>
                <a:cs typeface="JetBrains Mono"/>
              </a:defRPr>
            </a:pPr>
            <a:r>
              <a:rPr sz="1800" b="0">
                <a:solidFill>
                  <a:srgbClr val="F2EBDA"/>
                </a:solidFill>
                <a:latin typeface="JetBrains Mono"/>
                <a:ea typeface="JetBrains Mono"/>
                <a:cs typeface="JetBrains Mono"/>
              </a:rPr>
              <a:t>08 / 08</a:t>
            </a:r>
          </a:p>
        </p:txBody>
      </p:sp>
    </p:spTree>
    <p:extLst>
      <p:ext uri="{BB962C8B-B14F-4D97-AF65-F5344CB8AC3E}">
        <p14:creationId xmlns:p14="http://schemas.microsoft.com/office/powerpoint/2010/main" val="13933839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2026-09-12T11:18:03.2890000Z</dcterms:created>
  <dcterms:modified xsi:type="dcterms:W3CDTF">2026-09-12T11:18:03.2890000Z</dcterms:modified>
</coreProperties>
</file>